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comment1.xml" ContentType="application/vnd.openxmlformats-officedocument.presentationml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90" r:id="rId2"/>
    <p:sldId id="256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9" r:id="rId20"/>
    <p:sldId id="281" r:id="rId21"/>
    <p:sldId id="283" r:id="rId22"/>
    <p:sldId id="282" r:id="rId23"/>
    <p:sldId id="287" r:id="rId24"/>
    <p:sldId id="284" r:id="rId25"/>
    <p:sldId id="286" r:id="rId26"/>
    <p:sldId id="288" r:id="rId27"/>
    <p:sldId id="289" r:id="rId28"/>
    <p:sldId id="285" r:id="rId29"/>
    <p:sldId id="274" r:id="rId30"/>
    <p:sldId id="275" r:id="rId31"/>
    <p:sldId id="276" r:id="rId32"/>
    <p:sldId id="277" r:id="rId33"/>
    <p:sldId id="278" r:id="rId3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drey" initials="A" lastIdx="2" clrIdx="0">
    <p:extLst>
      <p:ext uri="{19B8F6BF-5375-455C-9EA6-DF929625EA0E}">
        <p15:presenceInfo xmlns:p15="http://schemas.microsoft.com/office/powerpoint/2012/main" userId="Andre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3707" autoAdjust="0"/>
  </p:normalViewPr>
  <p:slideViewPr>
    <p:cSldViewPr snapToGrid="0">
      <p:cViewPr varScale="1">
        <p:scale>
          <a:sx n="62" d="100"/>
          <a:sy n="62" d="100"/>
        </p:scale>
        <p:origin x="75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2-20T00:42:16.466" idx="1">
    <p:pos x="10" y="10"/>
    <p:text>Расширение нулями не является единственным возможным вариантом. Так, на-
пример, можно m – 1 раз дублировать значения первого и последнего элементов f,
или зеркально перевернуть m – 1 первых и последних элементов f и использовать
их для расширения.</p:text>
    <p:extLst>
      <p:ext uri="{C676402C-5697-4E1C-873F-D02D1690AC5C}">
        <p15:threadingInfo xmlns:p15="http://schemas.microsoft.com/office/powerpoint/2012/main" timeZoneBias="-180"/>
      </p:ext>
    </p:extLs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42C32A-F190-4400-88BA-7DE2ACB27F64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85ABD34E-F0A7-4A07-AED9-FB36775E57D6}">
      <dgm:prSet phldrT="[Текст]"/>
      <dgm:spPr/>
      <dgm:t>
        <a:bodyPr/>
        <a:lstStyle/>
        <a:p>
          <a:r>
            <a:rPr lang="ru-RU" dirty="0"/>
            <a:t>Фильтры</a:t>
          </a:r>
        </a:p>
      </dgm:t>
    </dgm:pt>
    <dgm:pt modelId="{72134CD9-0CDC-470F-AA54-E41049D3EA37}" type="parTrans" cxnId="{EF5FDF7F-FB28-4A32-875F-00DA01B5B07F}">
      <dgm:prSet/>
      <dgm:spPr/>
      <dgm:t>
        <a:bodyPr/>
        <a:lstStyle/>
        <a:p>
          <a:endParaRPr lang="ru-RU"/>
        </a:p>
      </dgm:t>
    </dgm:pt>
    <dgm:pt modelId="{14E43A7D-9238-44F0-AFC6-A39FB2A710BF}" type="sibTrans" cxnId="{EF5FDF7F-FB28-4A32-875F-00DA01B5B07F}">
      <dgm:prSet/>
      <dgm:spPr/>
      <dgm:t>
        <a:bodyPr/>
        <a:lstStyle/>
        <a:p>
          <a:endParaRPr lang="ru-RU"/>
        </a:p>
      </dgm:t>
    </dgm:pt>
    <dgm:pt modelId="{5FC012AA-961E-439B-9264-18A5A0A00D9B}">
      <dgm:prSet phldrT="[Текст]"/>
      <dgm:spPr/>
      <dgm:t>
        <a:bodyPr/>
        <a:lstStyle/>
        <a:p>
          <a:r>
            <a:rPr lang="ru-RU" dirty="0"/>
            <a:t>Линейные</a:t>
          </a:r>
        </a:p>
      </dgm:t>
    </dgm:pt>
    <dgm:pt modelId="{E8C7639A-FB4F-454C-B8C0-6843E8F9A761}" type="parTrans" cxnId="{7D52A51C-0248-4B7D-B6B6-7FBCACEB5B21}">
      <dgm:prSet/>
      <dgm:spPr/>
      <dgm:t>
        <a:bodyPr/>
        <a:lstStyle/>
        <a:p>
          <a:endParaRPr lang="ru-RU"/>
        </a:p>
      </dgm:t>
    </dgm:pt>
    <dgm:pt modelId="{85599A5F-3C80-4389-8CFD-72DC247743E5}" type="sibTrans" cxnId="{7D52A51C-0248-4B7D-B6B6-7FBCACEB5B21}">
      <dgm:prSet/>
      <dgm:spPr/>
      <dgm:t>
        <a:bodyPr/>
        <a:lstStyle/>
        <a:p>
          <a:endParaRPr lang="ru-RU"/>
        </a:p>
      </dgm:t>
    </dgm:pt>
    <dgm:pt modelId="{6D60AEA5-FE1E-4514-905A-E97902BF2D36}">
      <dgm:prSet phldrT="[Текст]"/>
      <dgm:spPr/>
      <dgm:t>
        <a:bodyPr/>
        <a:lstStyle/>
        <a:p>
          <a:r>
            <a:rPr lang="ru-RU" dirty="0"/>
            <a:t>Нелинейные</a:t>
          </a:r>
        </a:p>
      </dgm:t>
    </dgm:pt>
    <dgm:pt modelId="{DA7AACBC-E28C-40F0-B073-C113AAD96068}" type="parTrans" cxnId="{57BF8719-E608-4503-A14A-794AB9820EF1}">
      <dgm:prSet/>
      <dgm:spPr/>
      <dgm:t>
        <a:bodyPr/>
        <a:lstStyle/>
        <a:p>
          <a:endParaRPr lang="ru-RU"/>
        </a:p>
      </dgm:t>
    </dgm:pt>
    <dgm:pt modelId="{FADBF2A1-B626-4C97-8473-D81E4B484CB8}" type="sibTrans" cxnId="{57BF8719-E608-4503-A14A-794AB9820EF1}">
      <dgm:prSet/>
      <dgm:spPr/>
      <dgm:t>
        <a:bodyPr/>
        <a:lstStyle/>
        <a:p>
          <a:endParaRPr lang="ru-RU"/>
        </a:p>
      </dgm:t>
    </dgm:pt>
    <dgm:pt modelId="{5985D971-BD18-45F9-A47A-21788EC29D0E}" type="pres">
      <dgm:prSet presAssocID="{D442C32A-F190-4400-88BA-7DE2ACB27F6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E4BF8D7C-F25B-482B-AF9B-EEFDED6B3ADA}" type="pres">
      <dgm:prSet presAssocID="{85ABD34E-F0A7-4A07-AED9-FB36775E57D6}" presName="hierRoot1" presStyleCnt="0">
        <dgm:presLayoutVars>
          <dgm:hierBranch val="init"/>
        </dgm:presLayoutVars>
      </dgm:prSet>
      <dgm:spPr/>
    </dgm:pt>
    <dgm:pt modelId="{45B6D387-9BDA-4BA1-9BB4-3367105B5564}" type="pres">
      <dgm:prSet presAssocID="{85ABD34E-F0A7-4A07-AED9-FB36775E57D6}" presName="rootComposite1" presStyleCnt="0"/>
      <dgm:spPr/>
    </dgm:pt>
    <dgm:pt modelId="{D7BF9F33-C3D7-4C0B-9397-6FD334D4F5D8}" type="pres">
      <dgm:prSet presAssocID="{85ABD34E-F0A7-4A07-AED9-FB36775E57D6}" presName="rootText1" presStyleLbl="node0" presStyleIdx="0" presStyleCnt="1">
        <dgm:presLayoutVars>
          <dgm:chPref val="3"/>
        </dgm:presLayoutVars>
      </dgm:prSet>
      <dgm:spPr/>
    </dgm:pt>
    <dgm:pt modelId="{3D656BBF-1247-46C4-BEED-C639922ABD72}" type="pres">
      <dgm:prSet presAssocID="{85ABD34E-F0A7-4A07-AED9-FB36775E57D6}" presName="rootConnector1" presStyleLbl="node1" presStyleIdx="0" presStyleCnt="0"/>
      <dgm:spPr/>
    </dgm:pt>
    <dgm:pt modelId="{962536CD-7CD0-4D44-B87D-45620C66CA49}" type="pres">
      <dgm:prSet presAssocID="{85ABD34E-F0A7-4A07-AED9-FB36775E57D6}" presName="hierChild2" presStyleCnt="0"/>
      <dgm:spPr/>
    </dgm:pt>
    <dgm:pt modelId="{1FE9E613-8B02-4A39-87BF-5CE1B37C14D0}" type="pres">
      <dgm:prSet presAssocID="{E8C7639A-FB4F-454C-B8C0-6843E8F9A761}" presName="Name37" presStyleLbl="parChTrans1D2" presStyleIdx="0" presStyleCnt="2"/>
      <dgm:spPr/>
    </dgm:pt>
    <dgm:pt modelId="{0416DA5B-ACD2-431C-B8AB-4F06A0DC4C9B}" type="pres">
      <dgm:prSet presAssocID="{5FC012AA-961E-439B-9264-18A5A0A00D9B}" presName="hierRoot2" presStyleCnt="0">
        <dgm:presLayoutVars>
          <dgm:hierBranch val="init"/>
        </dgm:presLayoutVars>
      </dgm:prSet>
      <dgm:spPr/>
    </dgm:pt>
    <dgm:pt modelId="{A4C716BA-C6D3-448E-831F-13A710F887E3}" type="pres">
      <dgm:prSet presAssocID="{5FC012AA-961E-439B-9264-18A5A0A00D9B}" presName="rootComposite" presStyleCnt="0"/>
      <dgm:spPr/>
    </dgm:pt>
    <dgm:pt modelId="{2CC14259-13B9-4C44-9773-E77E9CED596D}" type="pres">
      <dgm:prSet presAssocID="{5FC012AA-961E-439B-9264-18A5A0A00D9B}" presName="rootText" presStyleLbl="node2" presStyleIdx="0" presStyleCnt="2">
        <dgm:presLayoutVars>
          <dgm:chPref val="3"/>
        </dgm:presLayoutVars>
      </dgm:prSet>
      <dgm:spPr/>
    </dgm:pt>
    <dgm:pt modelId="{24AB75A6-A4B5-4AC8-977D-0752D30CEE9C}" type="pres">
      <dgm:prSet presAssocID="{5FC012AA-961E-439B-9264-18A5A0A00D9B}" presName="rootConnector" presStyleLbl="node2" presStyleIdx="0" presStyleCnt="2"/>
      <dgm:spPr/>
    </dgm:pt>
    <dgm:pt modelId="{32EA038B-B138-4E69-A149-035D17DC3FE2}" type="pres">
      <dgm:prSet presAssocID="{5FC012AA-961E-439B-9264-18A5A0A00D9B}" presName="hierChild4" presStyleCnt="0"/>
      <dgm:spPr/>
    </dgm:pt>
    <dgm:pt modelId="{EBDE319E-4C9F-4F20-8539-9A48CE905D1E}" type="pres">
      <dgm:prSet presAssocID="{5FC012AA-961E-439B-9264-18A5A0A00D9B}" presName="hierChild5" presStyleCnt="0"/>
      <dgm:spPr/>
    </dgm:pt>
    <dgm:pt modelId="{C550A057-2D73-48F3-8F70-8824B35F6D3E}" type="pres">
      <dgm:prSet presAssocID="{DA7AACBC-E28C-40F0-B073-C113AAD96068}" presName="Name37" presStyleLbl="parChTrans1D2" presStyleIdx="1" presStyleCnt="2"/>
      <dgm:spPr/>
    </dgm:pt>
    <dgm:pt modelId="{E7D4F210-935F-49AD-9577-9B463D6F2A8C}" type="pres">
      <dgm:prSet presAssocID="{6D60AEA5-FE1E-4514-905A-E97902BF2D36}" presName="hierRoot2" presStyleCnt="0">
        <dgm:presLayoutVars>
          <dgm:hierBranch val="init"/>
        </dgm:presLayoutVars>
      </dgm:prSet>
      <dgm:spPr/>
    </dgm:pt>
    <dgm:pt modelId="{DB46B7FB-BB7B-48FC-995F-48E6A9037818}" type="pres">
      <dgm:prSet presAssocID="{6D60AEA5-FE1E-4514-905A-E97902BF2D36}" presName="rootComposite" presStyleCnt="0"/>
      <dgm:spPr/>
    </dgm:pt>
    <dgm:pt modelId="{EDA4CB07-7102-4A1B-B786-FFC21631DDA0}" type="pres">
      <dgm:prSet presAssocID="{6D60AEA5-FE1E-4514-905A-E97902BF2D36}" presName="rootText" presStyleLbl="node2" presStyleIdx="1" presStyleCnt="2">
        <dgm:presLayoutVars>
          <dgm:chPref val="3"/>
        </dgm:presLayoutVars>
      </dgm:prSet>
      <dgm:spPr/>
    </dgm:pt>
    <dgm:pt modelId="{8F9FDF81-2195-4223-BCBB-7125265F0982}" type="pres">
      <dgm:prSet presAssocID="{6D60AEA5-FE1E-4514-905A-E97902BF2D36}" presName="rootConnector" presStyleLbl="node2" presStyleIdx="1" presStyleCnt="2"/>
      <dgm:spPr/>
    </dgm:pt>
    <dgm:pt modelId="{6AB74D76-AEC1-424D-A5E2-E6E0D4109C28}" type="pres">
      <dgm:prSet presAssocID="{6D60AEA5-FE1E-4514-905A-E97902BF2D36}" presName="hierChild4" presStyleCnt="0"/>
      <dgm:spPr/>
    </dgm:pt>
    <dgm:pt modelId="{4BE94338-C091-4BA2-98BB-428AF237E364}" type="pres">
      <dgm:prSet presAssocID="{6D60AEA5-FE1E-4514-905A-E97902BF2D36}" presName="hierChild5" presStyleCnt="0"/>
      <dgm:spPr/>
    </dgm:pt>
    <dgm:pt modelId="{91DF55FB-5AE6-435C-8AA3-A698C9B56A7E}" type="pres">
      <dgm:prSet presAssocID="{85ABD34E-F0A7-4A07-AED9-FB36775E57D6}" presName="hierChild3" presStyleCnt="0"/>
      <dgm:spPr/>
    </dgm:pt>
  </dgm:ptLst>
  <dgm:cxnLst>
    <dgm:cxn modelId="{7B542304-79B6-4B3A-A253-3462E4279ECE}" type="presOf" srcId="{D442C32A-F190-4400-88BA-7DE2ACB27F64}" destId="{5985D971-BD18-45F9-A47A-21788EC29D0E}" srcOrd="0" destOrd="0" presId="urn:microsoft.com/office/officeart/2005/8/layout/orgChart1"/>
    <dgm:cxn modelId="{45E5350D-9F8A-45E1-9BE1-A77221E7EC95}" type="presOf" srcId="{85ABD34E-F0A7-4A07-AED9-FB36775E57D6}" destId="{D7BF9F33-C3D7-4C0B-9397-6FD334D4F5D8}" srcOrd="0" destOrd="0" presId="urn:microsoft.com/office/officeart/2005/8/layout/orgChart1"/>
    <dgm:cxn modelId="{F25C0F0E-FC40-4DAC-94D9-A8CEC2E75CAA}" type="presOf" srcId="{6D60AEA5-FE1E-4514-905A-E97902BF2D36}" destId="{8F9FDF81-2195-4223-BCBB-7125265F0982}" srcOrd="1" destOrd="0" presId="urn:microsoft.com/office/officeart/2005/8/layout/orgChart1"/>
    <dgm:cxn modelId="{57BF8719-E608-4503-A14A-794AB9820EF1}" srcId="{85ABD34E-F0A7-4A07-AED9-FB36775E57D6}" destId="{6D60AEA5-FE1E-4514-905A-E97902BF2D36}" srcOrd="1" destOrd="0" parTransId="{DA7AACBC-E28C-40F0-B073-C113AAD96068}" sibTransId="{FADBF2A1-B626-4C97-8473-D81E4B484CB8}"/>
    <dgm:cxn modelId="{7D52A51C-0248-4B7D-B6B6-7FBCACEB5B21}" srcId="{85ABD34E-F0A7-4A07-AED9-FB36775E57D6}" destId="{5FC012AA-961E-439B-9264-18A5A0A00D9B}" srcOrd="0" destOrd="0" parTransId="{E8C7639A-FB4F-454C-B8C0-6843E8F9A761}" sibTransId="{85599A5F-3C80-4389-8CFD-72DC247743E5}"/>
    <dgm:cxn modelId="{F7F82B5F-C25F-447D-8B57-EF99A61A3C96}" type="presOf" srcId="{5FC012AA-961E-439B-9264-18A5A0A00D9B}" destId="{24AB75A6-A4B5-4AC8-977D-0752D30CEE9C}" srcOrd="1" destOrd="0" presId="urn:microsoft.com/office/officeart/2005/8/layout/orgChart1"/>
    <dgm:cxn modelId="{A8B53742-5B5E-4C73-9538-17DA68E04B78}" type="presOf" srcId="{E8C7639A-FB4F-454C-B8C0-6843E8F9A761}" destId="{1FE9E613-8B02-4A39-87BF-5CE1B37C14D0}" srcOrd="0" destOrd="0" presId="urn:microsoft.com/office/officeart/2005/8/layout/orgChart1"/>
    <dgm:cxn modelId="{EF5FDF7F-FB28-4A32-875F-00DA01B5B07F}" srcId="{D442C32A-F190-4400-88BA-7DE2ACB27F64}" destId="{85ABD34E-F0A7-4A07-AED9-FB36775E57D6}" srcOrd="0" destOrd="0" parTransId="{72134CD9-0CDC-470F-AA54-E41049D3EA37}" sibTransId="{14E43A7D-9238-44F0-AFC6-A39FB2A710BF}"/>
    <dgm:cxn modelId="{BBF38884-1881-4A02-994F-0D91ABFE58EC}" type="presOf" srcId="{DA7AACBC-E28C-40F0-B073-C113AAD96068}" destId="{C550A057-2D73-48F3-8F70-8824B35F6D3E}" srcOrd="0" destOrd="0" presId="urn:microsoft.com/office/officeart/2005/8/layout/orgChart1"/>
    <dgm:cxn modelId="{4F9ED992-E9D3-4C6F-9981-EAD7646EE22D}" type="presOf" srcId="{5FC012AA-961E-439B-9264-18A5A0A00D9B}" destId="{2CC14259-13B9-4C44-9773-E77E9CED596D}" srcOrd="0" destOrd="0" presId="urn:microsoft.com/office/officeart/2005/8/layout/orgChart1"/>
    <dgm:cxn modelId="{A2CB52A5-3E5E-455D-9FF5-F2EAB2E43DB0}" type="presOf" srcId="{6D60AEA5-FE1E-4514-905A-E97902BF2D36}" destId="{EDA4CB07-7102-4A1B-B786-FFC21631DDA0}" srcOrd="0" destOrd="0" presId="urn:microsoft.com/office/officeart/2005/8/layout/orgChart1"/>
    <dgm:cxn modelId="{D2F726E6-E139-4A6C-B2D9-E268097885DD}" type="presOf" srcId="{85ABD34E-F0A7-4A07-AED9-FB36775E57D6}" destId="{3D656BBF-1247-46C4-BEED-C639922ABD72}" srcOrd="1" destOrd="0" presId="urn:microsoft.com/office/officeart/2005/8/layout/orgChart1"/>
    <dgm:cxn modelId="{45EC6E72-DD7C-4431-873B-AE6C02123693}" type="presParOf" srcId="{5985D971-BD18-45F9-A47A-21788EC29D0E}" destId="{E4BF8D7C-F25B-482B-AF9B-EEFDED6B3ADA}" srcOrd="0" destOrd="0" presId="urn:microsoft.com/office/officeart/2005/8/layout/orgChart1"/>
    <dgm:cxn modelId="{7E551572-E468-49B9-9232-08BFC64622CF}" type="presParOf" srcId="{E4BF8D7C-F25B-482B-AF9B-EEFDED6B3ADA}" destId="{45B6D387-9BDA-4BA1-9BB4-3367105B5564}" srcOrd="0" destOrd="0" presId="urn:microsoft.com/office/officeart/2005/8/layout/orgChart1"/>
    <dgm:cxn modelId="{65F97D38-AFE2-4E8D-AEC5-D3421DF84837}" type="presParOf" srcId="{45B6D387-9BDA-4BA1-9BB4-3367105B5564}" destId="{D7BF9F33-C3D7-4C0B-9397-6FD334D4F5D8}" srcOrd="0" destOrd="0" presId="urn:microsoft.com/office/officeart/2005/8/layout/orgChart1"/>
    <dgm:cxn modelId="{62539CD3-7FA4-4375-9029-9ADF5B99E93A}" type="presParOf" srcId="{45B6D387-9BDA-4BA1-9BB4-3367105B5564}" destId="{3D656BBF-1247-46C4-BEED-C639922ABD72}" srcOrd="1" destOrd="0" presId="urn:microsoft.com/office/officeart/2005/8/layout/orgChart1"/>
    <dgm:cxn modelId="{A99E485F-641A-48FD-8651-16D48C7E2B11}" type="presParOf" srcId="{E4BF8D7C-F25B-482B-AF9B-EEFDED6B3ADA}" destId="{962536CD-7CD0-4D44-B87D-45620C66CA49}" srcOrd="1" destOrd="0" presId="urn:microsoft.com/office/officeart/2005/8/layout/orgChart1"/>
    <dgm:cxn modelId="{7C08725C-A8D2-4415-80AD-648B4E0AEB67}" type="presParOf" srcId="{962536CD-7CD0-4D44-B87D-45620C66CA49}" destId="{1FE9E613-8B02-4A39-87BF-5CE1B37C14D0}" srcOrd="0" destOrd="0" presId="urn:microsoft.com/office/officeart/2005/8/layout/orgChart1"/>
    <dgm:cxn modelId="{77B7F85E-E754-4968-B293-15D645C1BF12}" type="presParOf" srcId="{962536CD-7CD0-4D44-B87D-45620C66CA49}" destId="{0416DA5B-ACD2-431C-B8AB-4F06A0DC4C9B}" srcOrd="1" destOrd="0" presId="urn:microsoft.com/office/officeart/2005/8/layout/orgChart1"/>
    <dgm:cxn modelId="{67AFFF83-E256-4784-A12F-8F18E598C273}" type="presParOf" srcId="{0416DA5B-ACD2-431C-B8AB-4F06A0DC4C9B}" destId="{A4C716BA-C6D3-448E-831F-13A710F887E3}" srcOrd="0" destOrd="0" presId="urn:microsoft.com/office/officeart/2005/8/layout/orgChart1"/>
    <dgm:cxn modelId="{ECA99262-AFB3-41F4-A438-AC046AEB8FEA}" type="presParOf" srcId="{A4C716BA-C6D3-448E-831F-13A710F887E3}" destId="{2CC14259-13B9-4C44-9773-E77E9CED596D}" srcOrd="0" destOrd="0" presId="urn:microsoft.com/office/officeart/2005/8/layout/orgChart1"/>
    <dgm:cxn modelId="{A3313C96-D0CC-481C-A50F-8C029D77340A}" type="presParOf" srcId="{A4C716BA-C6D3-448E-831F-13A710F887E3}" destId="{24AB75A6-A4B5-4AC8-977D-0752D30CEE9C}" srcOrd="1" destOrd="0" presId="urn:microsoft.com/office/officeart/2005/8/layout/orgChart1"/>
    <dgm:cxn modelId="{AE5F927A-7FA5-40C6-A77E-C2776C769525}" type="presParOf" srcId="{0416DA5B-ACD2-431C-B8AB-4F06A0DC4C9B}" destId="{32EA038B-B138-4E69-A149-035D17DC3FE2}" srcOrd="1" destOrd="0" presId="urn:microsoft.com/office/officeart/2005/8/layout/orgChart1"/>
    <dgm:cxn modelId="{B36A8D9E-AFD5-47E1-B413-29902A05727B}" type="presParOf" srcId="{0416DA5B-ACD2-431C-B8AB-4F06A0DC4C9B}" destId="{EBDE319E-4C9F-4F20-8539-9A48CE905D1E}" srcOrd="2" destOrd="0" presId="urn:microsoft.com/office/officeart/2005/8/layout/orgChart1"/>
    <dgm:cxn modelId="{6ECCD979-36D6-4B26-966A-9C7D938F4F19}" type="presParOf" srcId="{962536CD-7CD0-4D44-B87D-45620C66CA49}" destId="{C550A057-2D73-48F3-8F70-8824B35F6D3E}" srcOrd="2" destOrd="0" presId="urn:microsoft.com/office/officeart/2005/8/layout/orgChart1"/>
    <dgm:cxn modelId="{A708D0DA-3EED-422B-B130-7BBD9C7B4B01}" type="presParOf" srcId="{962536CD-7CD0-4D44-B87D-45620C66CA49}" destId="{E7D4F210-935F-49AD-9577-9B463D6F2A8C}" srcOrd="3" destOrd="0" presId="urn:microsoft.com/office/officeart/2005/8/layout/orgChart1"/>
    <dgm:cxn modelId="{318AD3F4-2A39-4702-ABD7-71B72DB969C2}" type="presParOf" srcId="{E7D4F210-935F-49AD-9577-9B463D6F2A8C}" destId="{DB46B7FB-BB7B-48FC-995F-48E6A9037818}" srcOrd="0" destOrd="0" presId="urn:microsoft.com/office/officeart/2005/8/layout/orgChart1"/>
    <dgm:cxn modelId="{2857CC09-6861-4EBC-BDB2-1F5DB321A327}" type="presParOf" srcId="{DB46B7FB-BB7B-48FC-995F-48E6A9037818}" destId="{EDA4CB07-7102-4A1B-B786-FFC21631DDA0}" srcOrd="0" destOrd="0" presId="urn:microsoft.com/office/officeart/2005/8/layout/orgChart1"/>
    <dgm:cxn modelId="{2BAEDA2F-BB30-42B3-80BB-6DBF67C4237B}" type="presParOf" srcId="{DB46B7FB-BB7B-48FC-995F-48E6A9037818}" destId="{8F9FDF81-2195-4223-BCBB-7125265F0982}" srcOrd="1" destOrd="0" presId="urn:microsoft.com/office/officeart/2005/8/layout/orgChart1"/>
    <dgm:cxn modelId="{86513257-972C-417E-AA7C-5275AEE50701}" type="presParOf" srcId="{E7D4F210-935F-49AD-9577-9B463D6F2A8C}" destId="{6AB74D76-AEC1-424D-A5E2-E6E0D4109C28}" srcOrd="1" destOrd="0" presId="urn:microsoft.com/office/officeart/2005/8/layout/orgChart1"/>
    <dgm:cxn modelId="{2F542112-1553-40FB-ADD6-38E4BAAAC14B}" type="presParOf" srcId="{E7D4F210-935F-49AD-9577-9B463D6F2A8C}" destId="{4BE94338-C091-4BA2-98BB-428AF237E364}" srcOrd="2" destOrd="0" presId="urn:microsoft.com/office/officeart/2005/8/layout/orgChart1"/>
    <dgm:cxn modelId="{4F8D5852-C9B4-43D1-84BE-BAA52578F908}" type="presParOf" srcId="{E4BF8D7C-F25B-482B-AF9B-EEFDED6B3ADA}" destId="{91DF55FB-5AE6-435C-8AA3-A698C9B56A7E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50A057-2D73-48F3-8F70-8824B35F6D3E}">
      <dsp:nvSpPr>
        <dsp:cNvPr id="0" name=""/>
        <dsp:cNvSpPr/>
      </dsp:nvSpPr>
      <dsp:spPr>
        <a:xfrm>
          <a:off x="2360550" y="1244768"/>
          <a:ext cx="1291804" cy="4483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4197"/>
              </a:lnTo>
              <a:lnTo>
                <a:pt x="1291804" y="224197"/>
              </a:lnTo>
              <a:lnTo>
                <a:pt x="1291804" y="44839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E9E613-8B02-4A39-87BF-5CE1B37C14D0}">
      <dsp:nvSpPr>
        <dsp:cNvPr id="0" name=""/>
        <dsp:cNvSpPr/>
      </dsp:nvSpPr>
      <dsp:spPr>
        <a:xfrm>
          <a:off x="1068745" y="1244768"/>
          <a:ext cx="1291804" cy="448395"/>
        </a:xfrm>
        <a:custGeom>
          <a:avLst/>
          <a:gdLst/>
          <a:ahLst/>
          <a:cxnLst/>
          <a:rect l="0" t="0" r="0" b="0"/>
          <a:pathLst>
            <a:path>
              <a:moveTo>
                <a:pt x="1291804" y="0"/>
              </a:moveTo>
              <a:lnTo>
                <a:pt x="1291804" y="224197"/>
              </a:lnTo>
              <a:lnTo>
                <a:pt x="0" y="224197"/>
              </a:lnTo>
              <a:lnTo>
                <a:pt x="0" y="44839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BF9F33-C3D7-4C0B-9397-6FD334D4F5D8}">
      <dsp:nvSpPr>
        <dsp:cNvPr id="0" name=""/>
        <dsp:cNvSpPr/>
      </dsp:nvSpPr>
      <dsp:spPr>
        <a:xfrm>
          <a:off x="1292943" y="177161"/>
          <a:ext cx="2135214" cy="10676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Фильтры</a:t>
          </a:r>
        </a:p>
      </dsp:txBody>
      <dsp:txXfrm>
        <a:off x="1292943" y="177161"/>
        <a:ext cx="2135214" cy="1067607"/>
      </dsp:txXfrm>
    </dsp:sp>
    <dsp:sp modelId="{2CC14259-13B9-4C44-9773-E77E9CED596D}">
      <dsp:nvSpPr>
        <dsp:cNvPr id="0" name=""/>
        <dsp:cNvSpPr/>
      </dsp:nvSpPr>
      <dsp:spPr>
        <a:xfrm>
          <a:off x="1138" y="1693164"/>
          <a:ext cx="2135214" cy="10676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Линейные</a:t>
          </a:r>
        </a:p>
      </dsp:txBody>
      <dsp:txXfrm>
        <a:off x="1138" y="1693164"/>
        <a:ext cx="2135214" cy="1067607"/>
      </dsp:txXfrm>
    </dsp:sp>
    <dsp:sp modelId="{EDA4CB07-7102-4A1B-B786-FFC21631DDA0}">
      <dsp:nvSpPr>
        <dsp:cNvPr id="0" name=""/>
        <dsp:cNvSpPr/>
      </dsp:nvSpPr>
      <dsp:spPr>
        <a:xfrm>
          <a:off x="2584748" y="1693164"/>
          <a:ext cx="2135214" cy="10676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Нелинейные</a:t>
          </a:r>
        </a:p>
      </dsp:txBody>
      <dsp:txXfrm>
        <a:off x="2584748" y="1693164"/>
        <a:ext cx="2135214" cy="10676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3D958D-CD1F-4BF7-8174-77B72593F790}" type="datetimeFigureOut">
              <a:rPr lang="ru-RU" smtClean="0"/>
              <a:t>10.09.2025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51208D-7E81-4CB1-9AE0-77B1D3481B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4850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115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1208D-7E81-4CB1-9AE0-77B1D3481B90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0653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Новое значение центрального пикселя: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1208D-7E81-4CB1-9AE0-77B1D3481B90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30549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Решение:</a:t>
            </a:r>
            <a:br>
              <a:rPr lang="ru-RU" dirty="0"/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Упорядочим значения: 12, 14, 15, 16, 17, 18, 19, 20, 255</a:t>
            </a:r>
            <a:br>
              <a:rPr lang="ru-RU" dirty="0"/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Медиана (5-е значение):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1208D-7E81-4CB1-9AE0-77B1D3481B90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3854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Результат:</a:t>
            </a:r>
            <a:br>
              <a:rPr lang="ru-RU" dirty="0"/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Новое значение: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-17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(требует масштабирования или коррекции)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1208D-7E81-4CB1-9AE0-77B1D3481B90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63196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Результат:</a:t>
            </a:r>
            <a:br>
              <a:rPr lang="ru-RU" dirty="0"/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Градиент по X: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1208D-7E81-4CB1-9AE0-77B1D3481B90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9762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192251-1AB1-4E3A-9299-ED542199BD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4408F81-C4AB-474C-9C98-8DA94A7A21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3576AD-697D-4ED3-9011-4EAD53B70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59F7C-B337-4031-BB17-3051CB24A2D3}" type="datetimeFigureOut">
              <a:rPr lang="ru-RU" smtClean="0"/>
              <a:t>10.09.2025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6EC6095-7B4C-458E-B9B0-9D2641129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EB66F1-619B-4536-A616-D480EFA0B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771A9-3293-42A7-8321-DFCA670E55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0141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8DF6C2-5FE7-4B32-9849-1D67B9FEA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D8DA7F-AF1D-41E6-B576-DD738C763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34779D6-582E-4B10-8E34-1639BD31B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59F7C-B337-4031-BB17-3051CB24A2D3}" type="datetimeFigureOut">
              <a:rPr lang="ru-RU" smtClean="0"/>
              <a:t>10.09.2025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69B7821-11F9-410E-BDF9-F4FA3AED6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6EE8D5C-9627-463C-A019-675B4914A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771A9-3293-42A7-8321-DFCA670E55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2904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0FBD04-DEA2-4731-AAA9-3117F7E48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B33387E-BEDC-451A-A9E5-C4608BFF3F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EB7E6C-CB9E-42A1-A009-578F8C48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59F7C-B337-4031-BB17-3051CB24A2D3}" type="datetimeFigureOut">
              <a:rPr lang="ru-RU" smtClean="0"/>
              <a:t>10.09.2025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A2A9033-E1E5-4751-ADCE-7A43FA26D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E4AFAB1-16BD-4A62-8FC4-F85994A12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771A9-3293-42A7-8321-DFCA670E55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4989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A9CA1C-D535-4491-A456-D01EFC65E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FD3DB7-A500-4570-AF25-B5BF011529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337B0AF-45B9-447E-90B4-98F03FC158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2906912-D9C9-4322-93D1-A52A59CF0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59F7C-B337-4031-BB17-3051CB24A2D3}" type="datetimeFigureOut">
              <a:rPr lang="ru-RU" smtClean="0"/>
              <a:t>10.09.2025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DF99835-A346-472C-ABC1-27C6B6E90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BFACC96-8E44-44DC-BA86-AC01B03AD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771A9-3293-42A7-8321-DFCA670E55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8812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353956-97DA-41F0-B242-9EB93488D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69C622A-289F-46FE-A9D0-24F8DE577C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14EB142-84DC-47EA-8BF3-92F8187459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F5803DA-B717-4647-8E00-F2F9436375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5C58CC2-EE08-4493-8753-74F0E94442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2F71E0D-AB8F-4C24-BC65-B86752126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59F7C-B337-4031-BB17-3051CB24A2D3}" type="datetimeFigureOut">
              <a:rPr lang="ru-RU" smtClean="0"/>
              <a:t>10.09.2025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0E9B116-8102-4228-931E-AC3759BC7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46D293C-9DD5-4804-A881-1343728F3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771A9-3293-42A7-8321-DFCA670E55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5594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82BCDB-C23F-4D44-A183-47B88E62B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FDD4955-B147-4293-91C8-3E376232D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59F7C-B337-4031-BB17-3051CB24A2D3}" type="datetimeFigureOut">
              <a:rPr lang="ru-RU" smtClean="0"/>
              <a:t>10.09.2025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408642C-E237-4199-BAF9-D73C3438D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A15FB0D-B7E5-4DD5-84EA-528F6EC24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771A9-3293-42A7-8321-DFCA670E55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9305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75165F3-3A2A-448C-8BF3-109D8F2F7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59F7C-B337-4031-BB17-3051CB24A2D3}" type="datetimeFigureOut">
              <a:rPr lang="ru-RU" smtClean="0"/>
              <a:t>10.09.2025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248D03D-96B3-46C9-A14C-0C38D1BE5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DDF3851-6785-43D1-936D-C46658CA9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771A9-3293-42A7-8321-DFCA670E55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5883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F2F41D-F793-42F5-AF9D-535FA80EA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0E19AE-015F-4819-B9CB-82D2E40C9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ED8BBCC-1F98-44D3-94EB-87CD5040B2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6C28048-E79D-4507-93E6-8F2DF530F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59F7C-B337-4031-BB17-3051CB24A2D3}" type="datetimeFigureOut">
              <a:rPr lang="ru-RU" smtClean="0"/>
              <a:t>10.09.2025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EF5F900-9E1A-4AB6-904F-1EB84D9CD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B6A43E4-84AD-425C-9828-9CE8F27ED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771A9-3293-42A7-8321-DFCA670E55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0429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07F4FA-B354-489B-8324-C9408D324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E21555B-3939-4DA0-97EF-8E076C10A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4EF1C27-F303-4BAC-A3B0-CF92C79DA6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92D83BA-1ACC-4A4A-9961-3CD81249D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59F7C-B337-4031-BB17-3051CB24A2D3}" type="datetimeFigureOut">
              <a:rPr lang="ru-RU" smtClean="0"/>
              <a:t>10.09.2025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E35FA3B-6D83-4659-A914-AB4F89499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3744B8A-BE95-4A89-8005-6C5AAF0CC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771A9-3293-42A7-8321-DFCA670E55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1490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F229B4-0A33-43C9-8A64-08353D7F8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214E00C-A9F4-4EA5-B54F-26F346BEB9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C1142B-3B86-497F-8502-169EB7CDE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59F7C-B337-4031-BB17-3051CB24A2D3}" type="datetimeFigureOut">
              <a:rPr lang="ru-RU" smtClean="0"/>
              <a:t>10.09.2025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D33188-B9C5-4E3D-8AE8-F0343F141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99B54D-4767-47C8-B80E-4A926B539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771A9-3293-42A7-8321-DFCA670E55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931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F009865-B11B-4DED-BDAE-7D88ACF4AC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B31C773-15F9-450D-8088-9D8158FC72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463510-F8A1-49D2-A985-98B601BE0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59F7C-B337-4031-BB17-3051CB24A2D3}" type="datetimeFigureOut">
              <a:rPr lang="ru-RU" smtClean="0"/>
              <a:t>10.09.2025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5AC8AB-DDEA-4CFA-95F1-5813C1B9B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FE6D5A-0F03-4EAD-B772-777DA89B1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771A9-3293-42A7-8321-DFCA670E55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5016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9A7354-3882-4B17-A24D-2D83B21D3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7E67BF9-2AEE-48C9-8A48-CEA672606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10C08D-C9B8-482D-BB51-A6EEB01D7A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E59F7C-B337-4031-BB17-3051CB24A2D3}" type="datetimeFigureOut">
              <a:rPr lang="ru-RU" smtClean="0"/>
              <a:t>10.09.2025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5212826-7FB4-4031-A12B-2580147FF5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EDCBBD-23D7-4775-A027-DB71D662FC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771A9-3293-42A7-8321-DFCA670E55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9430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emf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emf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4A1A7AE-01AB-4A1D-A8D9-63F2DDB4747E}"/>
              </a:ext>
            </a:extLst>
          </p:cNvPr>
          <p:cNvSpPr/>
          <p:nvPr/>
        </p:nvSpPr>
        <p:spPr>
          <a:xfrm>
            <a:off x="583914" y="1305341"/>
            <a:ext cx="1102417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F1115"/>
                </a:solidFill>
                <a:latin typeface="quote-cjk-patch"/>
              </a:rPr>
              <a:t>Опросник по лекции «Основы цифрового представления изображений»</a:t>
            </a:r>
          </a:p>
          <a:p>
            <a:pPr>
              <a:buFont typeface="+mj-lt"/>
              <a:buAutoNum type="arabicPeriod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Какие два типа фоторецепторов содержатся в сетчатке человека и чем они отличаются по функциям?</a:t>
            </a:r>
          </a:p>
          <a:p>
            <a:pPr>
              <a:buFont typeface="+mj-lt"/>
              <a:buAutoNum type="arabicPeriod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Что такое уровень адаптации яркости (</a:t>
            </a:r>
            <a:r>
              <a:rPr lang="ru-RU" i="1" dirty="0" err="1">
                <a:solidFill>
                  <a:srgbClr val="0F1115"/>
                </a:solidFill>
                <a:latin typeface="KaTeX_Math"/>
              </a:rPr>
              <a:t>B</a:t>
            </a:r>
            <a:r>
              <a:rPr lang="ru-RU" dirty="0" err="1">
                <a:solidFill>
                  <a:srgbClr val="0F1115"/>
                </a:solidFill>
                <a:latin typeface="KaTeX_Main"/>
              </a:rPr>
              <a:t>а</a:t>
            </a:r>
            <a:r>
              <a:rPr lang="ru-RU" dirty="0">
                <a:solidFill>
                  <a:srgbClr val="0F1115"/>
                </a:solidFill>
                <a:latin typeface="KaTeX_Main"/>
              </a:rPr>
              <a:t>​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) и как он связан с субъективным диапазоном яркости (</a:t>
            </a:r>
            <a:r>
              <a:rPr lang="ru-RU" i="1" dirty="0" err="1">
                <a:solidFill>
                  <a:srgbClr val="0F1115"/>
                </a:solidFill>
                <a:latin typeface="KaTeX_Math"/>
              </a:rPr>
              <a:t>B</a:t>
            </a:r>
            <a:r>
              <a:rPr lang="ru-RU" dirty="0" err="1">
                <a:solidFill>
                  <a:srgbClr val="0F1115"/>
                </a:solidFill>
                <a:latin typeface="KaTeX_Main"/>
              </a:rPr>
              <a:t>б</a:t>
            </a:r>
            <a:r>
              <a:rPr lang="ru-RU" dirty="0">
                <a:solidFill>
                  <a:srgbClr val="0F1115"/>
                </a:solidFill>
                <a:latin typeface="KaTeX_Main"/>
              </a:rPr>
              <a:t>​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)?</a:t>
            </a:r>
          </a:p>
          <a:p>
            <a:pPr>
              <a:buFont typeface="+mj-lt"/>
              <a:buAutoNum type="arabicPeriod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Перечислите основные этапы формирования цифрового изображения в камере, начиная от объекта и заканчивая сохранением файла.</a:t>
            </a:r>
          </a:p>
          <a:p>
            <a:pPr>
              <a:buFont typeface="+mj-lt"/>
              <a:buAutoNum type="arabicPeriod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Что такое динамический диапазон изображения и в каких единицах он может измеряться?</a:t>
            </a:r>
          </a:p>
          <a:p>
            <a:pPr>
              <a:buFont typeface="+mj-lt"/>
              <a:buAutoNum type="arabicPeriod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Какие три класса пространственных операций над изображениями были упомянуты в лекции? Приведите по одному примеру каждого.</a:t>
            </a:r>
          </a:p>
          <a:p>
            <a:pPr>
              <a:buFont typeface="+mj-lt"/>
              <a:buAutoNum type="arabicPeriod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Как гамма-коррекция влияет на изображение при значениях γ &gt; 1 и γ &lt; 1? Какие риски связаны с её применением?</a:t>
            </a:r>
          </a:p>
          <a:p>
            <a:pPr>
              <a:buFont typeface="+mj-lt"/>
              <a:buAutoNum type="arabicPeriod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Что такое битовая плоскость и как она связана с представлением полутонового изображения?</a:t>
            </a:r>
          </a:p>
          <a:p>
            <a:pPr>
              <a:buFont typeface="+mj-lt"/>
              <a:buAutoNum type="arabicPeriod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Как с помощью арифметических операций над изображениями можно уменьшить уровень шума?</a:t>
            </a:r>
          </a:p>
          <a:p>
            <a:pPr>
              <a:buFont typeface="+mj-lt"/>
              <a:buAutoNum type="arabicPeriod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Что показывает гистограмма изображения и как она используется для улучшения контраста?</a:t>
            </a:r>
          </a:p>
          <a:p>
            <a:pPr>
              <a:buFont typeface="+mj-lt"/>
              <a:buAutoNum type="arabicPeriod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Какое преобразование яркости используется для </a:t>
            </a:r>
            <a:r>
              <a:rPr lang="ru-RU" dirty="0" err="1">
                <a:solidFill>
                  <a:srgbClr val="0F1115"/>
                </a:solidFill>
                <a:latin typeface="quote-cjk-patch"/>
              </a:rPr>
              <a:t>эквализации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 гистограммы и как оно называется?</a:t>
            </a:r>
            <a:endParaRPr lang="ru-RU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725547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C92118-55B3-47D6-A94E-F55DB35754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Основы пространственной фильтрации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5CDEB82-7207-4F38-B2F1-99AF5F3D86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i="1" dirty="0">
                <a:ln w="9525">
                  <a:noFill/>
                  <a:prstDash val="solid"/>
                </a:ln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Никитин Андрей Александрович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39834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157C35-D916-4D82-98F7-6F4E73B46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Механизмы пространственной фильтрации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3D31C2-91F1-4F29-A83F-CA7EE99AE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2080" y="4566061"/>
            <a:ext cx="5741720" cy="146245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1600" dirty="0"/>
              <a:t>Фильтрацию (сглаживание) можно выполнить прямо по изображению путем использования пространственных фильтров (также называемых пространственными </a:t>
            </a:r>
            <a:r>
              <a:rPr lang="ru-RU" sz="1600" i="1" dirty="0"/>
              <a:t>масками</a:t>
            </a:r>
            <a:r>
              <a:rPr lang="ru-RU" sz="1600" dirty="0"/>
              <a:t>, </a:t>
            </a:r>
            <a:r>
              <a:rPr lang="ru-RU" sz="1600" i="1" dirty="0"/>
              <a:t>ядрами</a:t>
            </a:r>
            <a:r>
              <a:rPr lang="ru-RU" sz="1600" dirty="0"/>
              <a:t>, </a:t>
            </a:r>
            <a:r>
              <a:rPr lang="ru-RU" sz="1600" i="1" dirty="0"/>
              <a:t>шаблонами </a:t>
            </a:r>
            <a:r>
              <a:rPr lang="ru-RU" sz="1600" dirty="0"/>
              <a:t>или </a:t>
            </a:r>
            <a:r>
              <a:rPr lang="ru-RU" sz="1600" i="1" dirty="0"/>
              <a:t>окнами</a:t>
            </a:r>
            <a:r>
              <a:rPr lang="ru-RU" sz="1600" dirty="0"/>
              <a:t>)</a:t>
            </a:r>
          </a:p>
        </p:txBody>
      </p:sp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71D0B138-6AC9-4EFB-AC4F-AB19424E1F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497358"/>
              </p:ext>
            </p:extLst>
          </p:nvPr>
        </p:nvGraphicFramePr>
        <p:xfrm>
          <a:off x="5941571" y="1428043"/>
          <a:ext cx="4721101" cy="29379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3160F9D-17CC-4997-9234-C0DBDFFFB9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199" y="1428043"/>
            <a:ext cx="4412243" cy="3267557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74C7EF1-82F8-4FAB-AE13-E3678EB93FE3}"/>
              </a:ext>
            </a:extLst>
          </p:cNvPr>
          <p:cNvSpPr/>
          <p:nvPr/>
        </p:nvSpPr>
        <p:spPr>
          <a:xfrm>
            <a:off x="269173" y="4709545"/>
            <a:ext cx="498126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latin typeface="Newton-Regular"/>
              </a:rPr>
              <a:t>Окрестность 3</a:t>
            </a:r>
            <a:r>
              <a:rPr lang="en-US" sz="1600" dirty="0">
                <a:latin typeface="Newton-Regular"/>
              </a:rPr>
              <a:t>x</a:t>
            </a:r>
            <a:r>
              <a:rPr lang="ru-RU" sz="1600" dirty="0">
                <a:latin typeface="Newton-Regular"/>
              </a:rPr>
              <a:t>3 вокруг точки (</a:t>
            </a:r>
            <a:r>
              <a:rPr lang="ru-RU" sz="1600" i="1" dirty="0">
                <a:latin typeface="Newton-Italic"/>
              </a:rPr>
              <a:t>x</a:t>
            </a:r>
            <a:r>
              <a:rPr lang="ru-RU" sz="1600" dirty="0">
                <a:latin typeface="Newton-Regular"/>
              </a:rPr>
              <a:t>, </a:t>
            </a:r>
            <a:r>
              <a:rPr lang="ru-RU" sz="1600" i="1" dirty="0">
                <a:latin typeface="Newton-Italic"/>
              </a:rPr>
              <a:t>y</a:t>
            </a:r>
            <a:r>
              <a:rPr lang="ru-RU" sz="1600" dirty="0">
                <a:latin typeface="Newton-Regular"/>
              </a:rPr>
              <a:t>) изображения в пространственной области. При формировании выходного изображения окрестность передвигается от точки к точке изображения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990254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856AE4-87ED-4E56-895B-64150BB45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Линейные фильтры</a:t>
            </a:r>
          </a:p>
        </p:txBody>
      </p:sp>
      <p:pic>
        <p:nvPicPr>
          <p:cNvPr id="7" name="Объект 3">
            <a:extLst>
              <a:ext uri="{FF2B5EF4-FFF2-40B4-BE49-F238E27FC236}">
                <a16:creationId xmlns:a16="http://schemas.microsoft.com/office/drawing/2014/main" id="{CAB07474-25AA-4C1E-80BE-2195A571DB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88" r="7722"/>
          <a:stretch/>
        </p:blipFill>
        <p:spPr>
          <a:xfrm>
            <a:off x="724620" y="1456538"/>
            <a:ext cx="4347712" cy="489525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DAC65C2-A052-4977-BA63-00FBC9A06C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776" y="3168603"/>
            <a:ext cx="4822617" cy="646331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E8DCF5C-CD5B-479B-9029-BDAFA7F93C38}"/>
              </a:ext>
            </a:extLst>
          </p:cNvPr>
          <p:cNvSpPr/>
          <p:nvPr/>
        </p:nvSpPr>
        <p:spPr>
          <a:xfrm>
            <a:off x="5243085" y="400129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latin typeface="Newton-Regular"/>
              </a:rPr>
              <a:t>В общем виде фильтрация изображения размерами </a:t>
            </a:r>
            <a:r>
              <a:rPr lang="ru-RU" i="1" dirty="0" err="1">
                <a:latin typeface="Newton-Italic"/>
              </a:rPr>
              <a:t>M</a:t>
            </a:r>
            <a:r>
              <a:rPr lang="ru-RU" dirty="0" err="1">
                <a:latin typeface="Newton-Italic"/>
              </a:rPr>
              <a:t>х</a:t>
            </a:r>
            <a:r>
              <a:rPr lang="ru-RU" i="1" dirty="0" err="1">
                <a:latin typeface="Newton-Italic"/>
              </a:rPr>
              <a:t>N</a:t>
            </a:r>
            <a:r>
              <a:rPr lang="ru-RU" i="1" dirty="0">
                <a:latin typeface="Newton-Italic"/>
              </a:rPr>
              <a:t> </a:t>
            </a:r>
            <a:r>
              <a:rPr lang="ru-RU" dirty="0">
                <a:latin typeface="Newton-Regular"/>
              </a:rPr>
              <a:t>с помощью фильтра размерами </a:t>
            </a:r>
            <a:r>
              <a:rPr lang="ru-RU" i="1" dirty="0" err="1">
                <a:latin typeface="Newton-Italic"/>
              </a:rPr>
              <a:t>m</a:t>
            </a:r>
            <a:r>
              <a:rPr lang="ru-RU" dirty="0" err="1">
                <a:latin typeface="Newton-Italic"/>
              </a:rPr>
              <a:t>х</a:t>
            </a:r>
            <a:r>
              <a:rPr lang="ru-RU" i="1" dirty="0" err="1">
                <a:latin typeface="Newton-Italic"/>
              </a:rPr>
              <a:t>n</a:t>
            </a:r>
            <a:r>
              <a:rPr lang="ru-RU" i="1" dirty="0">
                <a:latin typeface="Newton-Italic"/>
              </a:rPr>
              <a:t> </a:t>
            </a:r>
            <a:r>
              <a:rPr lang="ru-RU" dirty="0">
                <a:latin typeface="Newton-Regular"/>
              </a:rPr>
              <a:t>задается выражением:</a:t>
            </a:r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55437E4-D2B2-4FCF-9A13-93E48F538F47}"/>
              </a:ext>
            </a:extLst>
          </p:cNvPr>
          <p:cNvSpPr/>
          <p:nvPr/>
        </p:nvSpPr>
        <p:spPr>
          <a:xfrm>
            <a:off x="5243086" y="1781914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latin typeface="Newton-Regular"/>
              </a:rPr>
              <a:t>В каждой точке (</a:t>
            </a:r>
            <a:r>
              <a:rPr lang="ru-RU" i="1" dirty="0">
                <a:latin typeface="Newton-Italic"/>
              </a:rPr>
              <a:t>x</a:t>
            </a:r>
            <a:r>
              <a:rPr lang="ru-RU" dirty="0">
                <a:latin typeface="Newton-Regular"/>
              </a:rPr>
              <a:t>, </a:t>
            </a:r>
            <a:r>
              <a:rPr lang="ru-RU" i="1" dirty="0">
                <a:latin typeface="Newton-Italic"/>
              </a:rPr>
              <a:t>y</a:t>
            </a:r>
            <a:r>
              <a:rPr lang="ru-RU" dirty="0">
                <a:latin typeface="Newton-Regular"/>
              </a:rPr>
              <a:t>) изображения отклик </a:t>
            </a:r>
            <a:r>
              <a:rPr lang="ru-RU" i="1" dirty="0">
                <a:latin typeface="Newton-Italic"/>
              </a:rPr>
              <a:t>g</a:t>
            </a:r>
            <a:r>
              <a:rPr lang="ru-RU" dirty="0">
                <a:latin typeface="Newton-Regular"/>
              </a:rPr>
              <a:t>(</a:t>
            </a:r>
            <a:r>
              <a:rPr lang="ru-RU" i="1" dirty="0">
                <a:latin typeface="Newton-Italic"/>
              </a:rPr>
              <a:t>x</a:t>
            </a:r>
            <a:r>
              <a:rPr lang="ru-RU" dirty="0">
                <a:latin typeface="Newton-Regular"/>
              </a:rPr>
              <a:t>, </a:t>
            </a:r>
            <a:r>
              <a:rPr lang="ru-RU" i="1" dirty="0">
                <a:latin typeface="Newton-Italic"/>
              </a:rPr>
              <a:t>y</a:t>
            </a:r>
            <a:r>
              <a:rPr lang="ru-RU" dirty="0">
                <a:latin typeface="Newton-Regular"/>
              </a:rPr>
              <a:t>) задается суммой произведений коэффициентов фильтра на соответствующие значения пикселей в области, покрытой маской фильтра:</a:t>
            </a: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CA15A4C-C33F-4BC1-8249-060A0F0113C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8279" r="28809"/>
          <a:stretch/>
        </p:blipFill>
        <p:spPr>
          <a:xfrm>
            <a:off x="6744322" y="4663521"/>
            <a:ext cx="3086328" cy="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052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83FF7C-D719-46CD-8AB6-E4F34F014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Корреляция и свёртка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F20556-DBA0-470E-AAD7-41E20D096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4007453" cy="435133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sz="2000" b="1" dirty="0"/>
              <a:t>Корреляция</a:t>
            </a:r>
            <a:r>
              <a:rPr lang="ru-RU" sz="2000" dirty="0"/>
              <a:t> есть процесс движения маски фильтра по изображению и вычисление суммы произведений значений элементов маски и значений пикселей, на которые попадают соответствующие элементы маски, для всех точек изображения.</a:t>
            </a:r>
          </a:p>
          <a:p>
            <a:pPr marL="0" indent="0" algn="just">
              <a:buNone/>
            </a:pPr>
            <a:endParaRPr lang="ru-RU" sz="2000" dirty="0"/>
          </a:p>
          <a:p>
            <a:pPr marL="0" indent="0" algn="just">
              <a:buNone/>
            </a:pPr>
            <a:r>
              <a:rPr lang="ru-RU" sz="2000" dirty="0"/>
              <a:t>Механизмы </a:t>
            </a:r>
            <a:r>
              <a:rPr lang="ru-RU" sz="2000" b="1" dirty="0"/>
              <a:t>свертки</a:t>
            </a:r>
            <a:r>
              <a:rPr lang="ru-RU" sz="2000" dirty="0"/>
              <a:t> такие же, но за исключением того, что предварительно маска фильтра поворачивается на 180°.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E1EAE8E-8ACA-4C1D-81D0-392934602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8925" y="365125"/>
            <a:ext cx="6075362" cy="613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372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7AAFE6-8552-4F6F-833F-057DCFE1A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Корреляция и свёртка </a:t>
            </a:r>
            <a:br>
              <a:rPr lang="ru-RU" sz="3600" dirty="0"/>
            </a:br>
            <a:r>
              <a:rPr lang="ru-RU" sz="3600" dirty="0"/>
              <a:t>для изображений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27DB40-97BE-42C2-88A4-2836AE148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Корреляция фильтра </a:t>
            </a:r>
            <a:r>
              <a:rPr lang="ru-RU" sz="2000" b="1" i="1" dirty="0"/>
              <a:t>w</a:t>
            </a:r>
            <a:r>
              <a:rPr lang="ru-RU" sz="2000" b="1" dirty="0"/>
              <a:t>(</a:t>
            </a:r>
            <a:r>
              <a:rPr lang="ru-RU" sz="2000" b="1" i="1" dirty="0"/>
              <a:t>x</a:t>
            </a:r>
            <a:r>
              <a:rPr lang="ru-RU" sz="2000" b="1" dirty="0"/>
              <a:t>, </a:t>
            </a:r>
            <a:r>
              <a:rPr lang="ru-RU" sz="2000" b="1" i="1" dirty="0"/>
              <a:t>y</a:t>
            </a:r>
            <a:r>
              <a:rPr lang="ru-RU" sz="2000" b="1" dirty="0"/>
              <a:t>) </a:t>
            </a:r>
            <a:r>
              <a:rPr lang="ru-RU" sz="2000" dirty="0"/>
              <a:t>размерами </a:t>
            </a:r>
            <a:r>
              <a:rPr lang="ru-RU" sz="2000" i="1" dirty="0"/>
              <a:t>m</a:t>
            </a:r>
            <a:r>
              <a:rPr lang="en-US" sz="2000" i="1" dirty="0"/>
              <a:t>x</a:t>
            </a:r>
            <a:r>
              <a:rPr lang="ru-RU" sz="2000" i="1" dirty="0"/>
              <a:t>n </a:t>
            </a:r>
            <a:r>
              <a:rPr lang="ru-RU" sz="2000" dirty="0"/>
              <a:t>с изображением </a:t>
            </a:r>
            <a:r>
              <a:rPr lang="ru-RU" sz="2000" b="1" i="1" dirty="0"/>
              <a:t>f</a:t>
            </a:r>
            <a:r>
              <a:rPr lang="ru-RU" sz="2000" b="1" dirty="0"/>
              <a:t>(</a:t>
            </a:r>
            <a:r>
              <a:rPr lang="ru-RU" sz="2000" b="1" i="1" dirty="0" err="1"/>
              <a:t>x</a:t>
            </a:r>
            <a:r>
              <a:rPr lang="ru-RU" sz="2000" b="1" dirty="0" err="1"/>
              <a:t>,</a:t>
            </a:r>
            <a:r>
              <a:rPr lang="ru-RU" sz="2000" b="1" i="1" dirty="0" err="1"/>
              <a:t>y</a:t>
            </a:r>
            <a:r>
              <a:rPr lang="ru-RU" sz="2000" b="1" dirty="0"/>
              <a:t>), </a:t>
            </a:r>
            <a:r>
              <a:rPr lang="ru-RU" sz="2000" dirty="0"/>
              <a:t>обозначаемая как </a:t>
            </a:r>
            <a:r>
              <a:rPr lang="ru-RU" sz="2000" b="1" i="1" dirty="0"/>
              <a:t>w</a:t>
            </a:r>
            <a:r>
              <a:rPr lang="ru-RU" sz="2000" b="1" dirty="0"/>
              <a:t>(</a:t>
            </a:r>
            <a:r>
              <a:rPr lang="ru-RU" sz="2000" b="1" i="1" dirty="0" err="1"/>
              <a:t>x</a:t>
            </a:r>
            <a:r>
              <a:rPr lang="ru-RU" sz="2000" b="1" dirty="0" err="1"/>
              <a:t>,</a:t>
            </a:r>
            <a:r>
              <a:rPr lang="ru-RU" sz="2000" b="1" i="1" dirty="0" err="1"/>
              <a:t>y</a:t>
            </a:r>
            <a:r>
              <a:rPr lang="ru-RU" sz="2000" b="1" dirty="0"/>
              <a:t>)</a:t>
            </a:r>
            <a:r>
              <a:rPr lang="ru-RU" sz="2000" b="1" i="1" dirty="0"/>
              <a:t>f</a:t>
            </a:r>
            <a:r>
              <a:rPr lang="ru-RU" sz="2000" b="1" dirty="0"/>
              <a:t>(</a:t>
            </a:r>
            <a:r>
              <a:rPr lang="ru-RU" sz="2000" b="1" i="1" dirty="0"/>
              <a:t>x</a:t>
            </a:r>
            <a:r>
              <a:rPr lang="ru-RU" sz="2000" b="1" dirty="0"/>
              <a:t>, </a:t>
            </a:r>
            <a:r>
              <a:rPr lang="ru-RU" sz="2000" b="1" i="1" dirty="0"/>
              <a:t>y</a:t>
            </a:r>
            <a:r>
              <a:rPr lang="ru-RU" sz="2000" b="1" dirty="0"/>
              <a:t>), </a:t>
            </a:r>
            <a:r>
              <a:rPr lang="ru-RU" sz="2000" dirty="0"/>
              <a:t>задается уравнением: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2000" dirty="0"/>
              <a:t>C</a:t>
            </a:r>
            <a:r>
              <a:rPr lang="ru-RU" sz="2000" dirty="0"/>
              <a:t>вертка </a:t>
            </a:r>
            <a:r>
              <a:rPr lang="ru-RU" sz="2000" b="1" i="1" dirty="0"/>
              <a:t>w</a:t>
            </a:r>
            <a:r>
              <a:rPr lang="ru-RU" sz="2000" b="1" dirty="0"/>
              <a:t>(</a:t>
            </a:r>
            <a:r>
              <a:rPr lang="ru-RU" sz="2000" b="1" i="1" dirty="0"/>
              <a:t>x</a:t>
            </a:r>
            <a:r>
              <a:rPr lang="ru-RU" sz="2000" b="1" dirty="0"/>
              <a:t>, </a:t>
            </a:r>
            <a:r>
              <a:rPr lang="ru-RU" sz="2000" b="1" i="1" dirty="0"/>
              <a:t>y</a:t>
            </a:r>
            <a:r>
              <a:rPr lang="ru-RU" sz="2000" b="1" dirty="0"/>
              <a:t>) </a:t>
            </a:r>
            <a:r>
              <a:rPr lang="ru-RU" sz="2000" dirty="0"/>
              <a:t>с </a:t>
            </a:r>
            <a:r>
              <a:rPr lang="ru-RU" sz="2000" b="1" i="1" dirty="0"/>
              <a:t>f</a:t>
            </a:r>
            <a:r>
              <a:rPr lang="ru-RU" sz="2000" b="1" dirty="0"/>
              <a:t>(</a:t>
            </a:r>
            <a:r>
              <a:rPr lang="ru-RU" sz="2000" b="1" i="1" dirty="0"/>
              <a:t>x</a:t>
            </a:r>
            <a:r>
              <a:rPr lang="ru-RU" sz="2000" b="1" dirty="0"/>
              <a:t>, </a:t>
            </a:r>
            <a:r>
              <a:rPr lang="ru-RU" sz="2000" b="1" i="1" dirty="0"/>
              <a:t>y</a:t>
            </a:r>
            <a:r>
              <a:rPr lang="ru-RU" sz="2000" b="1" dirty="0"/>
              <a:t>), </a:t>
            </a:r>
            <a:r>
              <a:rPr lang="ru-RU" sz="2000" dirty="0"/>
              <a:t>обозначаемая как   </a:t>
            </a:r>
            <a:r>
              <a:rPr lang="ru-RU" sz="2000" b="1" i="1" dirty="0"/>
              <a:t>w</a:t>
            </a:r>
            <a:r>
              <a:rPr lang="ru-RU" sz="2000" b="1" dirty="0"/>
              <a:t>(</a:t>
            </a:r>
            <a:r>
              <a:rPr lang="ru-RU" sz="2000" b="1" i="1" dirty="0"/>
              <a:t>x</a:t>
            </a:r>
            <a:r>
              <a:rPr lang="ru-RU" sz="2000" b="1" dirty="0"/>
              <a:t>, </a:t>
            </a:r>
            <a:r>
              <a:rPr lang="ru-RU" sz="2000" b="1" i="1" dirty="0"/>
              <a:t>y</a:t>
            </a:r>
            <a:r>
              <a:rPr lang="ru-RU" sz="2000" b="1" dirty="0"/>
              <a:t>)</a:t>
            </a:r>
            <a:r>
              <a:rPr lang="ru-RU" sz="2000" b="1" i="1" dirty="0"/>
              <a:t>f</a:t>
            </a:r>
            <a:r>
              <a:rPr lang="ru-RU" sz="2000" b="1" dirty="0"/>
              <a:t>(</a:t>
            </a:r>
            <a:r>
              <a:rPr lang="ru-RU" sz="2000" b="1" i="1" dirty="0"/>
              <a:t>x</a:t>
            </a:r>
            <a:r>
              <a:rPr lang="ru-RU" sz="2000" b="1" dirty="0"/>
              <a:t>, </a:t>
            </a:r>
            <a:r>
              <a:rPr lang="ru-RU" sz="2000" b="1" i="1" dirty="0"/>
              <a:t>y</a:t>
            </a:r>
            <a:r>
              <a:rPr lang="ru-RU" sz="2000" b="1" dirty="0"/>
              <a:t>),</a:t>
            </a:r>
            <a:r>
              <a:rPr lang="en-US" sz="2000" b="1" dirty="0"/>
              <a:t> </a:t>
            </a:r>
            <a:r>
              <a:rPr lang="ru-RU" sz="2000" dirty="0"/>
              <a:t>задается уравнением:</a:t>
            </a:r>
            <a:endParaRPr lang="ru-RU" sz="16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DB7DF69-6025-4DBF-A1D0-1E0856A7E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615" y="496922"/>
            <a:ext cx="5407710" cy="568004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1B2AD24-0BA8-43E8-9028-26D592C74CF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569" t="1912" r="17025" b="-1912"/>
          <a:stretch/>
        </p:blipFill>
        <p:spPr>
          <a:xfrm>
            <a:off x="1443351" y="2867828"/>
            <a:ext cx="4047499" cy="83338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6C169A0-2CBE-4DC6-A0D8-58B6E8ABF0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991" y="4696698"/>
            <a:ext cx="4464218" cy="699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143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E90730-E86B-4B04-8AE5-BA984E53C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Сглаживающие пространственные фильтры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C0709A86-53F3-4432-B5AB-A75FBC886B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0279" y="1522101"/>
            <a:ext cx="8372285" cy="271445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FAAC919-54BD-477B-B461-42DBB5507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781" y="5096078"/>
            <a:ext cx="3401246" cy="12206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4C3D1D-3A24-44EE-B9B7-C358F1DBB8CF}"/>
              </a:ext>
            </a:extLst>
          </p:cNvPr>
          <p:cNvSpPr txBox="1"/>
          <p:nvPr/>
        </p:nvSpPr>
        <p:spPr>
          <a:xfrm>
            <a:off x="2953344" y="4236552"/>
            <a:ext cx="35641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i="1" dirty="0"/>
              <a:t>Однородный усредняющий фильтр</a:t>
            </a:r>
            <a:endParaRPr lang="ru-RU" b="1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C1A97DF-D9E5-4C56-ACA4-94C959630D77}"/>
              </a:ext>
            </a:extLst>
          </p:cNvPr>
          <p:cNvSpPr/>
          <p:nvPr/>
        </p:nvSpPr>
        <p:spPr>
          <a:xfrm>
            <a:off x="6850565" y="4241501"/>
            <a:ext cx="30161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i="1" dirty="0">
                <a:latin typeface="Newton-Italic"/>
              </a:rPr>
              <a:t>Взвешенный средний фильтр</a:t>
            </a:r>
            <a:endParaRPr lang="ru-RU" b="1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5027B57-206E-4418-BE96-37738E333175}"/>
              </a:ext>
            </a:extLst>
          </p:cNvPr>
          <p:cNvSpPr/>
          <p:nvPr/>
        </p:nvSpPr>
        <p:spPr>
          <a:xfrm>
            <a:off x="4735421" y="5383217"/>
            <a:ext cx="64616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Newton-Regular"/>
              </a:rPr>
              <a:t>Общая формула фильтрации изображения размерами </a:t>
            </a:r>
            <a:r>
              <a:rPr lang="ru-RU" i="1" dirty="0">
                <a:latin typeface="Newton-Italic"/>
              </a:rPr>
              <a:t>M</a:t>
            </a:r>
            <a:r>
              <a:rPr lang="en-US" dirty="0">
                <a:latin typeface="Newton-Italic"/>
              </a:rPr>
              <a:t>x</a:t>
            </a:r>
            <a:r>
              <a:rPr lang="ru-RU" i="1" dirty="0">
                <a:latin typeface="Newton-Italic"/>
              </a:rPr>
              <a:t>N </a:t>
            </a:r>
            <a:r>
              <a:rPr lang="ru-RU" dirty="0">
                <a:latin typeface="Newton-Regular"/>
              </a:rPr>
              <a:t>фильтром взвешенного среднего по окрестности </a:t>
            </a:r>
            <a:r>
              <a:rPr lang="ru-RU" i="1" dirty="0">
                <a:latin typeface="Newton-Italic"/>
              </a:rPr>
              <a:t>m</a:t>
            </a:r>
            <a:r>
              <a:rPr lang="en-US" dirty="0">
                <a:latin typeface="Newton-Italic"/>
              </a:rPr>
              <a:t>x</a:t>
            </a:r>
            <a:r>
              <a:rPr lang="ru-RU" i="1" dirty="0">
                <a:latin typeface="Newton-Italic"/>
              </a:rPr>
              <a:t>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3809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Сглаживающие пространственные фильтры</a:t>
            </a:r>
          </a:p>
        </p:txBody>
      </p:sp>
      <p:pic>
        <p:nvPicPr>
          <p:cNvPr id="9" name="Объект 8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73"/>
          <a:stretch/>
        </p:blipFill>
        <p:spPr>
          <a:xfrm>
            <a:off x="838200" y="1690688"/>
            <a:ext cx="10515600" cy="4906439"/>
          </a:xfrm>
        </p:spPr>
      </p:pic>
      <p:sp>
        <p:nvSpPr>
          <p:cNvPr id="10" name="TextBox 9"/>
          <p:cNvSpPr txBox="1"/>
          <p:nvPr/>
        </p:nvSpPr>
        <p:spPr>
          <a:xfrm>
            <a:off x="838200" y="1539574"/>
            <a:ext cx="53451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Размеры окон маски: </a:t>
            </a:r>
            <a:r>
              <a:rPr lang="en-US" sz="2400" dirty="0"/>
              <a:t>3,</a:t>
            </a:r>
            <a:r>
              <a:rPr lang="ru-RU" sz="2400" dirty="0"/>
              <a:t> </a:t>
            </a:r>
            <a:r>
              <a:rPr lang="en-US" sz="2400" dirty="0"/>
              <a:t>7,</a:t>
            </a:r>
            <a:r>
              <a:rPr lang="ru-RU" sz="2400" dirty="0"/>
              <a:t> </a:t>
            </a:r>
            <a:r>
              <a:rPr lang="en-US" sz="2400" dirty="0"/>
              <a:t>11,</a:t>
            </a:r>
            <a:r>
              <a:rPr lang="ru-RU" sz="2400" dirty="0"/>
              <a:t> </a:t>
            </a:r>
            <a:r>
              <a:rPr lang="en-US" sz="2400" dirty="0"/>
              <a:t>15,</a:t>
            </a:r>
            <a:r>
              <a:rPr lang="ru-RU" sz="2400" dirty="0"/>
              <a:t> </a:t>
            </a:r>
            <a:r>
              <a:rPr lang="en-US" sz="2400" dirty="0"/>
              <a:t>19,</a:t>
            </a:r>
            <a:r>
              <a:rPr lang="ru-RU" sz="2400" dirty="0"/>
              <a:t> </a:t>
            </a:r>
            <a:r>
              <a:rPr lang="en-US" sz="2400" dirty="0"/>
              <a:t>23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848781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Применение сглаживания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72805"/>
            <a:ext cx="10459655" cy="5246172"/>
          </a:xfrm>
        </p:spPr>
      </p:pic>
      <p:sp>
        <p:nvSpPr>
          <p:cNvPr id="3" name="Прямоугольник 2"/>
          <p:cNvSpPr/>
          <p:nvPr/>
        </p:nvSpPr>
        <p:spPr>
          <a:xfrm>
            <a:off x="6772406" y="1321356"/>
            <a:ext cx="24192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Размер окна маски: </a:t>
            </a:r>
            <a:r>
              <a:rPr lang="en-US" dirty="0"/>
              <a:t>11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2148147" y="1321356"/>
            <a:ext cx="2518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/>
              <a:t>Исходное изображение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1880728" y="3811225"/>
            <a:ext cx="8896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Пороговый отбор ярких звёзд при сигнале 120 </a:t>
            </a:r>
            <a:r>
              <a:rPr lang="ru-RU" dirty="0" err="1"/>
              <a:t>ур.АЦП</a:t>
            </a:r>
            <a:r>
              <a:rPr lang="ru-RU" dirty="0"/>
              <a:t> (без фильтрации/с фильтрацией) </a:t>
            </a:r>
          </a:p>
        </p:txBody>
      </p:sp>
    </p:spTree>
    <p:extLst>
      <p:ext uri="{BB962C8B-B14F-4D97-AF65-F5344CB8AC3E}">
        <p14:creationId xmlns:p14="http://schemas.microsoft.com/office/powerpoint/2010/main" val="920349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Фильтры, основанные на порядковых статистиках (нелинейные фильтры)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575" y="1825624"/>
            <a:ext cx="9273770" cy="4651376"/>
          </a:xfrm>
        </p:spPr>
      </p:pic>
      <p:sp>
        <p:nvSpPr>
          <p:cNvPr id="3" name="TextBox 2"/>
          <p:cNvSpPr txBox="1"/>
          <p:nvPr/>
        </p:nvSpPr>
        <p:spPr>
          <a:xfrm>
            <a:off x="838200" y="1673346"/>
            <a:ext cx="55623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Медианный фильтр размером маски 5х5</a:t>
            </a:r>
          </a:p>
        </p:txBody>
      </p:sp>
    </p:spTree>
    <p:extLst>
      <p:ext uri="{BB962C8B-B14F-4D97-AF65-F5344CB8AC3E}">
        <p14:creationId xmlns:p14="http://schemas.microsoft.com/office/powerpoint/2010/main" val="747991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Пространственные фильтры повышения резкости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690688"/>
            <a:ext cx="568337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000" dirty="0"/>
              <a:t>Производные дискретной функции определяются в терминах</a:t>
            </a:r>
            <a:r>
              <a:rPr lang="en-US" sz="2000" dirty="0"/>
              <a:t> </a:t>
            </a:r>
            <a:r>
              <a:rPr lang="ru-RU" sz="2000" dirty="0"/>
              <a:t>разностей.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ru-RU" sz="2000" i="1" dirty="0"/>
              <a:t>Первая производная </a:t>
            </a:r>
            <a:r>
              <a:rPr lang="ru-RU" sz="2000" dirty="0"/>
              <a:t>должна быть: </a:t>
            </a:r>
            <a:endParaRPr lang="en-US" sz="2000" dirty="0"/>
          </a:p>
          <a:p>
            <a:r>
              <a:rPr lang="ru-RU" sz="2000" dirty="0"/>
              <a:t>равной нулю</a:t>
            </a:r>
            <a:r>
              <a:rPr lang="en-US" sz="2000" dirty="0"/>
              <a:t> </a:t>
            </a:r>
            <a:r>
              <a:rPr lang="ru-RU" sz="2000" dirty="0"/>
              <a:t>на областях с постоянным уровнем яркости;</a:t>
            </a:r>
            <a:endParaRPr lang="en-US" sz="2000" dirty="0"/>
          </a:p>
          <a:p>
            <a:r>
              <a:rPr lang="ru-RU" sz="2000" dirty="0"/>
              <a:t>ненулевой в начале и в конце</a:t>
            </a:r>
            <a:r>
              <a:rPr lang="en-US" sz="2000" dirty="0"/>
              <a:t> </a:t>
            </a:r>
            <a:r>
              <a:rPr lang="ru-RU" sz="2000" dirty="0"/>
              <a:t>ступеньки или склона яркости;</a:t>
            </a:r>
            <a:endParaRPr lang="en-US" sz="2000" dirty="0"/>
          </a:p>
          <a:p>
            <a:r>
              <a:rPr lang="ru-RU" sz="2000" dirty="0"/>
              <a:t>ненулевой на склонах яркости. </a:t>
            </a:r>
            <a:endParaRPr lang="en-US" sz="2000" dirty="0"/>
          </a:p>
          <a:p>
            <a:pPr marL="0" indent="0">
              <a:buNone/>
            </a:pPr>
            <a:r>
              <a:rPr lang="ru-RU" sz="2000" dirty="0"/>
              <a:t>Аналогично</a:t>
            </a:r>
            <a:r>
              <a:rPr lang="en-US" sz="2000" dirty="0"/>
              <a:t> </a:t>
            </a:r>
            <a:r>
              <a:rPr lang="ru-RU" sz="2000" i="1" dirty="0"/>
              <a:t>вторая производная </a:t>
            </a:r>
            <a:r>
              <a:rPr lang="ru-RU" sz="2000" dirty="0"/>
              <a:t>должна быть: </a:t>
            </a:r>
            <a:endParaRPr lang="en-US" sz="2000" dirty="0"/>
          </a:p>
          <a:p>
            <a:r>
              <a:rPr lang="ru-RU" sz="2000" dirty="0"/>
              <a:t>равной нулю на плоских участках; </a:t>
            </a:r>
            <a:endParaRPr lang="en-US" sz="2000" dirty="0"/>
          </a:p>
          <a:p>
            <a:r>
              <a:rPr lang="ru-RU" sz="2000" dirty="0"/>
              <a:t>ненулевой в начале и в конце ступеньки или склона яркости;</a:t>
            </a:r>
            <a:endParaRPr lang="en-US" sz="2000" dirty="0"/>
          </a:p>
          <a:p>
            <a:r>
              <a:rPr lang="ru-RU" sz="2000" dirty="0"/>
              <a:t>равной нулю</a:t>
            </a:r>
            <a:r>
              <a:rPr lang="en-US" sz="2000" dirty="0"/>
              <a:t> </a:t>
            </a:r>
            <a:r>
              <a:rPr lang="ru-RU" sz="2000" dirty="0"/>
              <a:t>на склонах постоянной крутизны.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6521570" y="1690688"/>
            <a:ext cx="535700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Первая производная одномерной функции </a:t>
            </a:r>
            <a:r>
              <a:rPr lang="ru-RU" i="1" dirty="0"/>
              <a:t>f</a:t>
            </a:r>
            <a:r>
              <a:rPr lang="ru-RU" dirty="0"/>
              <a:t>(</a:t>
            </a:r>
            <a:r>
              <a:rPr lang="ru-RU" i="1" dirty="0"/>
              <a:t>x</a:t>
            </a:r>
            <a:r>
              <a:rPr lang="ru-RU" dirty="0"/>
              <a:t>) определяется как разность</a:t>
            </a:r>
            <a:r>
              <a:rPr lang="en-US" dirty="0"/>
              <a:t> </a:t>
            </a:r>
            <a:r>
              <a:rPr lang="ru-RU" dirty="0"/>
              <a:t>значений соседних элементов: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4586" y="2614018"/>
            <a:ext cx="1746395" cy="6393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6521570" y="3214182"/>
            <a:ext cx="53570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Вторая производная определяется как разность соседних значений первой</a:t>
            </a:r>
            <a:r>
              <a:rPr lang="en-US" dirty="0"/>
              <a:t> </a:t>
            </a:r>
            <a:r>
              <a:rPr lang="ru-RU" dirty="0"/>
              <a:t>производной: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8308" y="4012483"/>
            <a:ext cx="2770527" cy="663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106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Повышение резкости изображений с использованием</a:t>
            </a:r>
            <a:r>
              <a:rPr lang="en-US" sz="3200" dirty="0"/>
              <a:t> </a:t>
            </a:r>
            <a:r>
              <a:rPr lang="ru-RU" sz="3200" dirty="0"/>
              <a:t>вторых производных: лапласиан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2400" dirty="0"/>
              <a:t>Простейший изотропный оператор, основанный на производных, является </a:t>
            </a:r>
            <a:r>
              <a:rPr lang="ru-RU" sz="2400" i="1" dirty="0"/>
              <a:t>лапласиан </a:t>
            </a:r>
            <a:r>
              <a:rPr lang="ru-RU" sz="2400" dirty="0"/>
              <a:t>(оператор Лапласа),который в случае функции двух переменных </a:t>
            </a:r>
            <a:r>
              <a:rPr lang="ru-RU" sz="2400" i="1" dirty="0"/>
              <a:t>f</a:t>
            </a:r>
            <a:r>
              <a:rPr lang="ru-RU" sz="2400" dirty="0"/>
              <a:t>(</a:t>
            </a:r>
            <a:r>
              <a:rPr lang="ru-RU" sz="2400" i="1" dirty="0"/>
              <a:t>x</a:t>
            </a:r>
            <a:r>
              <a:rPr lang="ru-RU" sz="2400" dirty="0"/>
              <a:t>, </a:t>
            </a:r>
            <a:r>
              <a:rPr lang="ru-RU" sz="2400" i="1" dirty="0"/>
              <a:t>y</a:t>
            </a:r>
            <a:r>
              <a:rPr lang="ru-RU" sz="2400" dirty="0"/>
              <a:t>) определяется как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sz="2400" dirty="0"/>
              <a:t>Дискретная формулировка двумерного лапласиана двух переменных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0588" y="3087644"/>
            <a:ext cx="2216444" cy="811496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8148" y="4651862"/>
            <a:ext cx="8041325" cy="570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491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Маска фильтра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4622321" cy="4533996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5679057" y="1690688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latin typeface="Newton-Regular"/>
              </a:rPr>
              <a:t>Маска фильтра, используемая для реализации уравнения.</a:t>
            </a:r>
            <a:r>
              <a:rPr lang="en-US" dirty="0">
                <a:latin typeface="Newton-Regular"/>
              </a:rPr>
              <a:t> </a:t>
            </a:r>
            <a:r>
              <a:rPr lang="ru-RU" dirty="0">
                <a:latin typeface="Newton-Regular"/>
              </a:rPr>
              <a:t>Маска, используемая для реализации расширения этого уравнения путем добавления диагональных членов. Две другие реализации лапласиана, часто встречаемые на практике</a:t>
            </a:r>
            <a:r>
              <a:rPr lang="en-US" dirty="0">
                <a:latin typeface="Newton-Regular"/>
              </a:rPr>
              <a:t>.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5679057" y="3432685"/>
            <a:ext cx="6096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Newton-Regular"/>
              </a:rPr>
              <a:t>Обобщенный алгоритм использования лапласиана для повышения резкости изображений сводится к следующему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2674" y="4620685"/>
            <a:ext cx="3631001" cy="552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6770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реализации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4480561"/>
            <a:ext cx="10515600" cy="169640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А) Нерезкое изображение Северного полюса Луны. </a:t>
            </a:r>
          </a:p>
          <a:p>
            <a:pPr marL="0" indent="0">
              <a:buNone/>
            </a:pPr>
            <a:r>
              <a:rPr lang="ru-RU" dirty="0"/>
              <a:t>Б) Изображение-лапласиан без масштабирования. </a:t>
            </a:r>
          </a:p>
          <a:p>
            <a:pPr marL="0" indent="0">
              <a:buNone/>
            </a:pPr>
            <a:r>
              <a:rPr lang="ru-RU" dirty="0"/>
              <a:t>В) Изображение-лапласиан, подвергнутое градационной коррекции. </a:t>
            </a:r>
          </a:p>
          <a:p>
            <a:pPr marL="0" indent="0">
              <a:buNone/>
            </a:pPr>
            <a:r>
              <a:rPr lang="ru-RU" dirty="0"/>
              <a:t>Г) Изображение с повышенной резкостью при использовании маски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2174666" cy="25200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883" y="1825625"/>
            <a:ext cx="2187228" cy="25200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0128" y="1825625"/>
            <a:ext cx="2174667" cy="252000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1964" y="1825625"/>
            <a:ext cx="2174667" cy="2520000"/>
          </a:xfrm>
          <a:prstGeom prst="rect">
            <a:avLst/>
          </a:prstGeom>
        </p:spPr>
      </p:pic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6230857"/>
              </p:ext>
            </p:extLst>
          </p:nvPr>
        </p:nvGraphicFramePr>
        <p:xfrm>
          <a:off x="838200" y="1387316"/>
          <a:ext cx="254862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7157">
                  <a:extLst>
                    <a:ext uri="{9D8B030D-6E8A-4147-A177-3AD203B41FA5}">
                      <a16:colId xmlns:a16="http://schemas.microsoft.com/office/drawing/2014/main" val="2469573104"/>
                    </a:ext>
                  </a:extLst>
                </a:gridCol>
                <a:gridCol w="637157">
                  <a:extLst>
                    <a:ext uri="{9D8B030D-6E8A-4147-A177-3AD203B41FA5}">
                      <a16:colId xmlns:a16="http://schemas.microsoft.com/office/drawing/2014/main" val="1674555099"/>
                    </a:ext>
                  </a:extLst>
                </a:gridCol>
                <a:gridCol w="637157">
                  <a:extLst>
                    <a:ext uri="{9D8B030D-6E8A-4147-A177-3AD203B41FA5}">
                      <a16:colId xmlns:a16="http://schemas.microsoft.com/office/drawing/2014/main" val="2676502278"/>
                    </a:ext>
                  </a:extLst>
                </a:gridCol>
                <a:gridCol w="637157">
                  <a:extLst>
                    <a:ext uri="{9D8B030D-6E8A-4147-A177-3AD203B41FA5}">
                      <a16:colId xmlns:a16="http://schemas.microsoft.com/office/drawing/2014/main" val="20257438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А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Б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В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ysClr val="windowText" lastClr="000000"/>
                          </a:solidFill>
                        </a:rPr>
                        <a:t>Г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9317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64744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Повышение резкости изображения с помощью нерезкого маскирования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sz="2200" dirty="0"/>
              <a:t>Процедура, называемая </a:t>
            </a:r>
            <a:r>
              <a:rPr lang="ru-RU" sz="2200" i="1" dirty="0"/>
              <a:t>нерезким маскированием</a:t>
            </a:r>
            <a:r>
              <a:rPr lang="ru-RU" sz="2200" dirty="0"/>
              <a:t>, состоит из следующих шагов.</a:t>
            </a:r>
          </a:p>
          <a:p>
            <a:pPr marL="0" indent="0">
              <a:buNone/>
            </a:pPr>
            <a:r>
              <a:rPr lang="ru-RU" sz="2200" b="1" dirty="0"/>
              <a:t>1. </a:t>
            </a:r>
            <a:r>
              <a:rPr lang="ru-RU" sz="2200" dirty="0"/>
              <a:t>Создание нерезкого изображения.</a:t>
            </a:r>
          </a:p>
          <a:p>
            <a:pPr marL="0" indent="0">
              <a:buNone/>
            </a:pPr>
            <a:r>
              <a:rPr lang="ru-RU" sz="2200" b="1" dirty="0"/>
              <a:t>2. </a:t>
            </a:r>
            <a:r>
              <a:rPr lang="ru-RU" sz="2200" dirty="0"/>
              <a:t>Вычитание нерезкого изображения из исходного изображения (результирующая разность называется </a:t>
            </a:r>
            <a:r>
              <a:rPr lang="ru-RU" sz="2200" i="1" dirty="0"/>
              <a:t>маска</a:t>
            </a:r>
            <a:r>
              <a:rPr lang="ru-RU" sz="2200" dirty="0"/>
              <a:t>).</a:t>
            </a:r>
          </a:p>
          <a:p>
            <a:pPr marL="0" indent="0">
              <a:buNone/>
            </a:pPr>
            <a:r>
              <a:rPr lang="ru-RU" sz="2200" b="1" dirty="0"/>
              <a:t>3. </a:t>
            </a:r>
            <a:r>
              <a:rPr lang="ru-RU" sz="2200" dirty="0"/>
              <a:t>Прибавление маски к исходному изображению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r>
              <a:rPr lang="ru-RU" sz="2200" dirty="0"/>
              <a:t>При </a:t>
            </a:r>
            <a:r>
              <a:rPr lang="ru-RU" sz="2200" i="1" dirty="0"/>
              <a:t>k </a:t>
            </a:r>
            <a:r>
              <a:rPr lang="ru-RU" sz="2200" dirty="0"/>
              <a:t>= 1 мы получаем нерезкое маскирование. При </a:t>
            </a:r>
            <a:r>
              <a:rPr lang="ru-RU" sz="2200" i="1" dirty="0"/>
              <a:t>k </a:t>
            </a:r>
            <a:r>
              <a:rPr lang="ru-RU" sz="2200" dirty="0"/>
              <a:t>&gt; 1 процесс называется</a:t>
            </a:r>
          </a:p>
          <a:p>
            <a:pPr marL="0" indent="0">
              <a:buNone/>
            </a:pPr>
            <a:r>
              <a:rPr lang="ru-RU" sz="2200" i="1" dirty="0"/>
              <a:t>фильтрацией с подъемом высоких частот</a:t>
            </a:r>
            <a:r>
              <a:rPr lang="ru-RU" sz="2200" dirty="0"/>
              <a:t>. Выбор </a:t>
            </a:r>
            <a:r>
              <a:rPr lang="ru-RU" sz="2200" i="1" dirty="0"/>
              <a:t>k </a:t>
            </a:r>
            <a:r>
              <a:rPr lang="ru-RU" sz="2200" dirty="0"/>
              <a:t>&lt; 1 снижает вклад нерезкой маски.</a:t>
            </a:r>
          </a:p>
          <a:p>
            <a:pPr marL="0" indent="0">
              <a:buNone/>
            </a:pPr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810724"/>
            <a:ext cx="3528555" cy="56136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849" y="4507022"/>
            <a:ext cx="3589347" cy="474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9526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реализации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6169" y="3275012"/>
            <a:ext cx="3048000" cy="131445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6169" y="1825625"/>
            <a:ext cx="3048000" cy="131445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6169" y="4724399"/>
            <a:ext cx="3048000" cy="131445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613" y="1825625"/>
            <a:ext cx="3048000" cy="131445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0613" y="3275012"/>
            <a:ext cx="3048000" cy="1314450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7965057" y="1831076"/>
            <a:ext cx="309417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Newton-Regular"/>
              </a:rPr>
              <a:t>1) Исходное изображение. </a:t>
            </a:r>
          </a:p>
          <a:p>
            <a:r>
              <a:rPr lang="ru-RU" dirty="0">
                <a:latin typeface="Newton-Regular"/>
              </a:rPr>
              <a:t>2) Результат сглаживания</a:t>
            </a:r>
          </a:p>
          <a:p>
            <a:r>
              <a:rPr lang="ru-RU" dirty="0">
                <a:latin typeface="Newton-Regular"/>
              </a:rPr>
              <a:t>гауссовым фильтром. </a:t>
            </a:r>
          </a:p>
          <a:p>
            <a:r>
              <a:rPr lang="ru-RU" dirty="0">
                <a:latin typeface="Newton-Regular"/>
              </a:rPr>
              <a:t>3) Нерезкая маска. </a:t>
            </a:r>
          </a:p>
          <a:p>
            <a:r>
              <a:rPr lang="ru-RU" dirty="0">
                <a:latin typeface="Newton-Regular"/>
              </a:rPr>
              <a:t>4) Результат нерезкого маскирования.  </a:t>
            </a:r>
          </a:p>
          <a:p>
            <a:r>
              <a:rPr lang="ru-RU" dirty="0">
                <a:latin typeface="Newton-Regular"/>
              </a:rPr>
              <a:t>5) Результат фильтрации с подъемом высоких частот</a:t>
            </a:r>
            <a:endParaRPr lang="ru-RU" dirty="0"/>
          </a:p>
        </p:txBody>
      </p:sp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748691"/>
              </p:ext>
            </p:extLst>
          </p:nvPr>
        </p:nvGraphicFramePr>
        <p:xfrm>
          <a:off x="4690613" y="4825364"/>
          <a:ext cx="987244" cy="11125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93622">
                  <a:extLst>
                    <a:ext uri="{9D8B030D-6E8A-4147-A177-3AD203B41FA5}">
                      <a16:colId xmlns:a16="http://schemas.microsoft.com/office/drawing/2014/main" val="2084441510"/>
                    </a:ext>
                  </a:extLst>
                </a:gridCol>
                <a:gridCol w="493622">
                  <a:extLst>
                    <a:ext uri="{9D8B030D-6E8A-4147-A177-3AD203B41FA5}">
                      <a16:colId xmlns:a16="http://schemas.microsoft.com/office/drawing/2014/main" val="23430684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284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2448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6125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38761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/>
              <a:t>Производных первого порядка для (нелинейного) повышения резкости изображений: градиент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Для функции </a:t>
            </a:r>
            <a:r>
              <a:rPr lang="ru-RU" sz="2000" i="1" dirty="0"/>
              <a:t>f</a:t>
            </a:r>
            <a:r>
              <a:rPr lang="ru-RU" sz="2000" dirty="0"/>
              <a:t>(</a:t>
            </a:r>
            <a:r>
              <a:rPr lang="ru-RU" sz="2000" i="1" dirty="0"/>
              <a:t>x</a:t>
            </a:r>
            <a:r>
              <a:rPr lang="ru-RU" sz="2000" dirty="0"/>
              <a:t>, </a:t>
            </a:r>
            <a:r>
              <a:rPr lang="ru-RU" sz="2000" i="1" dirty="0"/>
              <a:t>y</a:t>
            </a:r>
            <a:r>
              <a:rPr lang="ru-RU" sz="2000" dirty="0"/>
              <a:t>) градиент </a:t>
            </a:r>
            <a:r>
              <a:rPr lang="ru-RU" sz="2000" i="1" dirty="0"/>
              <a:t>f </a:t>
            </a:r>
            <a:r>
              <a:rPr lang="ru-RU" sz="2000" dirty="0"/>
              <a:t>в точке (</a:t>
            </a:r>
            <a:r>
              <a:rPr lang="ru-RU" sz="2000" i="1" dirty="0"/>
              <a:t>x</a:t>
            </a:r>
            <a:r>
              <a:rPr lang="ru-RU" sz="2000" dirty="0"/>
              <a:t>, </a:t>
            </a:r>
            <a:r>
              <a:rPr lang="ru-RU" sz="2000" i="1" dirty="0"/>
              <a:t>y</a:t>
            </a:r>
            <a:r>
              <a:rPr lang="ru-RU" sz="2000" dirty="0"/>
              <a:t>) определяется как двумерный </a:t>
            </a:r>
            <a:r>
              <a:rPr lang="ru-RU" sz="2000" i="1" dirty="0"/>
              <a:t>вектор-столбец</a:t>
            </a:r>
            <a:r>
              <a:rPr lang="ru-RU" sz="2000" dirty="0"/>
              <a:t>: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47268"/>
            <a:ext cx="2837701" cy="1265837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187" y="4468458"/>
            <a:ext cx="3641119" cy="517610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769187" y="3689260"/>
            <a:ext cx="1023811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i="1" dirty="0">
                <a:latin typeface="Newton-Italic"/>
              </a:rPr>
              <a:t>M</a:t>
            </a:r>
            <a:r>
              <a:rPr lang="ru-RU" dirty="0">
                <a:latin typeface="Newton-Regular"/>
              </a:rPr>
              <a:t>(</a:t>
            </a:r>
            <a:r>
              <a:rPr lang="ru-RU" i="1" dirty="0">
                <a:latin typeface="Newton-Italic"/>
              </a:rPr>
              <a:t>x</a:t>
            </a:r>
            <a:r>
              <a:rPr lang="ru-RU" dirty="0">
                <a:latin typeface="Newton-Regular"/>
              </a:rPr>
              <a:t>, </a:t>
            </a:r>
            <a:r>
              <a:rPr lang="ru-RU" i="1" dirty="0">
                <a:latin typeface="Newton-Italic"/>
              </a:rPr>
              <a:t>y</a:t>
            </a:r>
            <a:r>
              <a:rPr lang="ru-RU" dirty="0">
                <a:latin typeface="Newton-Regular"/>
              </a:rPr>
              <a:t>) </a:t>
            </a:r>
            <a:r>
              <a:rPr lang="ru-RU" i="1" dirty="0">
                <a:latin typeface="Newton-Italic"/>
              </a:rPr>
              <a:t>градиентным изображением </a:t>
            </a:r>
            <a:r>
              <a:rPr lang="ru-RU" dirty="0">
                <a:latin typeface="Newton-Regular"/>
              </a:rPr>
              <a:t>или просто </a:t>
            </a:r>
            <a:r>
              <a:rPr lang="ru-RU" i="1" dirty="0">
                <a:latin typeface="Newton-Italic"/>
              </a:rPr>
              <a:t>градиентом </a:t>
            </a:r>
          </a:p>
          <a:p>
            <a:r>
              <a:rPr lang="ru-RU" i="1" dirty="0">
                <a:latin typeface="Newton-Italic"/>
              </a:rPr>
              <a:t>(второй вариант более простая форма)</a:t>
            </a:r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5052190"/>
            <a:ext cx="2241431" cy="538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2152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Оператор Робертса и </a:t>
            </a:r>
            <a:r>
              <a:rPr lang="ru-RU" dirty="0" err="1"/>
              <a:t>Собела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4005" y="4837107"/>
            <a:ext cx="3561271" cy="5868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454005" y="1881188"/>
            <a:ext cx="34586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i="1" dirty="0">
                <a:latin typeface="Newton-Italic"/>
              </a:rPr>
              <a:t>Перекрестный градиентный </a:t>
            </a:r>
          </a:p>
          <a:p>
            <a:pPr algn="ctr"/>
            <a:r>
              <a:rPr lang="ru-RU" i="1" dirty="0">
                <a:latin typeface="Newton-Italic"/>
              </a:rPr>
              <a:t>оператор Робертса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/>
          <a:srcRect t="4117"/>
          <a:stretch/>
        </p:blipFill>
        <p:spPr>
          <a:xfrm>
            <a:off x="838200" y="2527519"/>
            <a:ext cx="4693309" cy="2250057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7730205" y="2019687"/>
            <a:ext cx="2189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i="1" dirty="0">
                <a:latin typeface="Newton-Italic"/>
              </a:rPr>
              <a:t>Оператор </a:t>
            </a:r>
            <a:r>
              <a:rPr lang="ru-RU" i="1" dirty="0" err="1">
                <a:latin typeface="Newton-Italic"/>
              </a:rPr>
              <a:t>Собела</a:t>
            </a:r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989" y="2389019"/>
            <a:ext cx="5279814" cy="268676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1509" y="5181452"/>
            <a:ext cx="6533072" cy="400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7954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12118B-3968-416C-92A1-442176EF4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Гауссов фильтр — математическая основа</a:t>
            </a:r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ECC0FF92-4272-4F19-8C2D-16B1F518CC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1079" y="1825625"/>
            <a:ext cx="850984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3193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6D8EB9-9421-477B-A7CB-6B4247A8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Морфологические операции как нелинейная фильтрация</a:t>
            </a:r>
            <a:br>
              <a:rPr lang="ru-RU" b="1" dirty="0"/>
            </a:b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605C35B-A317-4BE7-8ED7-CA80968687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b="1" dirty="0"/>
                  <a:t>Базовые операции:</a:t>
                </a:r>
                <a:endParaRPr lang="ru-RU" dirty="0"/>
              </a:p>
              <a:p>
                <a:r>
                  <a:rPr lang="ru-RU" dirty="0"/>
                  <a:t>Эрозия (</a:t>
                </a:r>
                <a:r>
                  <a:rPr lang="ru-RU" dirty="0" err="1"/>
                  <a:t>min</a:t>
                </a:r>
                <a:r>
                  <a:rPr lang="ru-RU" dirty="0"/>
                  <a:t> фильтр)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/>
                        <m:t>[</m:t>
                      </m:r>
                      <m:sSub>
                        <m:sSubPr>
                          <m:ctrlPr>
                            <a:rPr lang="ru-RU" i="1"/>
                          </m:ctrlPr>
                        </m:sSubPr>
                        <m:e>
                          <m:r>
                            <a:rPr lang="ru-RU" i="1"/>
                            <m:t>𝜀</m:t>
                          </m:r>
                        </m:e>
                        <m:sub>
                          <m:r>
                            <a:rPr lang="ru-RU" i="1"/>
                            <m:t>𝑔</m:t>
                          </m:r>
                        </m:sub>
                      </m:sSub>
                      <m:r>
                        <a:rPr lang="ru-RU" i="1"/>
                        <m:t>(</m:t>
                      </m:r>
                      <m:r>
                        <a:rPr lang="ru-RU" i="1"/>
                        <m:t>𝑓</m:t>
                      </m:r>
                      <m:r>
                        <a:rPr lang="ru-RU" i="1"/>
                        <m:t>)](</m:t>
                      </m:r>
                      <m:r>
                        <a:rPr lang="ru-RU" i="1"/>
                        <m:t>𝑥</m:t>
                      </m:r>
                      <m:r>
                        <a:rPr lang="ru-RU" i="1"/>
                        <m:t>,</m:t>
                      </m:r>
                      <m:r>
                        <a:rPr lang="ru-RU" i="1"/>
                        <m:t>𝑦</m:t>
                      </m:r>
                      <m:r>
                        <a:rPr lang="ru-RU" i="1"/>
                        <m:t>)=</m:t>
                      </m:r>
                      <m:limLow>
                        <m:limLowPr>
                          <m:ctrlPr>
                            <a:rPr lang="ru-RU" i="1"/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ru-RU"/>
                            <m:t>min</m:t>
                          </m:r>
                        </m:e>
                        <m:lim>
                          <m:r>
                            <a:rPr lang="ru-RU" i="1"/>
                            <m:t>(</m:t>
                          </m:r>
                          <m:r>
                            <a:rPr lang="ru-RU" i="1"/>
                            <m:t>𝑠</m:t>
                          </m:r>
                          <m:r>
                            <a:rPr lang="ru-RU" i="1"/>
                            <m:t>,</m:t>
                          </m:r>
                          <m:r>
                            <a:rPr lang="ru-RU" i="1"/>
                            <m:t>𝑡</m:t>
                          </m:r>
                          <m:r>
                            <a:rPr lang="ru-RU" i="1"/>
                            <m:t>)∈</m:t>
                          </m:r>
                          <m:sSub>
                            <m:sSubPr>
                              <m:ctrlPr>
                                <a:rPr lang="ru-RU" i="1"/>
                              </m:ctrlPr>
                            </m:sSubPr>
                            <m:e>
                              <m:r>
                                <a:rPr lang="ru-RU" i="1"/>
                                <m:t>𝐷</m:t>
                              </m:r>
                            </m:e>
                            <m:sub>
                              <m:r>
                                <a:rPr lang="ru-RU" i="1"/>
                                <m:t>𝑔</m:t>
                              </m:r>
                            </m:sub>
                          </m:sSub>
                        </m:lim>
                      </m:limLow>
                      <m:d>
                        <m:dPr>
                          <m:begChr m:val="{"/>
                          <m:endChr m:val="}"/>
                          <m:sepChr m:val=""/>
                          <m:ctrlPr>
                            <a:rPr lang="ru-RU" i="1"/>
                          </m:ctrlPr>
                        </m:dPr>
                        <m:e>
                          <m:r>
                            <a:rPr lang="ru-RU" i="1"/>
                            <m:t>𝑓</m:t>
                          </m:r>
                        </m:e>
                        <m:e>
                          <m:r>
                            <a:rPr lang="ru-RU" i="1"/>
                            <m:t>(</m:t>
                          </m:r>
                        </m:e>
                        <m:e>
                          <m:r>
                            <a:rPr lang="ru-RU" i="1"/>
                            <m:t>𝑥</m:t>
                          </m:r>
                        </m:e>
                        <m:e>
                          <m:r>
                            <a:rPr lang="ru-RU" i="1"/>
                            <m:t>+</m:t>
                          </m:r>
                        </m:e>
                        <m:e>
                          <m:r>
                            <a:rPr lang="ru-RU" i="1"/>
                            <m:t>𝑠</m:t>
                          </m:r>
                        </m:e>
                        <m:e>
                          <m:r>
                            <a:rPr lang="ru-RU" i="1"/>
                            <m:t>,</m:t>
                          </m:r>
                        </m:e>
                        <m:e>
                          <m:r>
                            <a:rPr lang="ru-RU" i="1"/>
                            <m:t>𝑦</m:t>
                          </m:r>
                        </m:e>
                        <m:e>
                          <m:r>
                            <a:rPr lang="ru-RU" i="1"/>
                            <m:t>+</m:t>
                          </m:r>
                        </m:e>
                        <m:e>
                          <m:r>
                            <a:rPr lang="ru-RU" i="1"/>
                            <m:t>𝑡</m:t>
                          </m:r>
                        </m:e>
                        <m:e>
                          <m:r>
                            <a:rPr lang="ru-RU" i="1"/>
                            <m:t>)</m:t>
                          </m:r>
                        </m:e>
                        <m:e>
                          <m:r>
                            <a:rPr lang="ru-RU" i="1"/>
                            <m:t>−</m:t>
                          </m:r>
                        </m:e>
                        <m:e>
                          <m:r>
                            <a:rPr lang="ru-RU" i="1"/>
                            <m:t>𝑔</m:t>
                          </m:r>
                        </m:e>
                        <m:e>
                          <m:r>
                            <a:rPr lang="ru-RU" i="1"/>
                            <m:t>(</m:t>
                          </m:r>
                        </m:e>
                        <m:e>
                          <m:r>
                            <a:rPr lang="ru-RU" i="1"/>
                            <m:t>𝑠</m:t>
                          </m:r>
                        </m:e>
                        <m:e>
                          <m:r>
                            <a:rPr lang="ru-RU" i="1"/>
                            <m:t>,</m:t>
                          </m:r>
                        </m:e>
                        <m:e>
                          <m:r>
                            <a:rPr lang="ru-RU" i="1"/>
                            <m:t>𝑡</m:t>
                          </m:r>
                        </m:e>
                        <m:e>
                          <m:r>
                            <a:rPr lang="ru-RU" i="1"/>
                            <m:t>)</m:t>
                          </m:r>
                        </m:e>
                      </m:d>
                    </m:oMath>
                  </m:oMathPara>
                </a14:m>
                <a:endParaRPr lang="ru-RU" dirty="0"/>
              </a:p>
              <a:p>
                <a:r>
                  <a:rPr lang="ru-RU" dirty="0"/>
                  <a:t>Дилатация (</a:t>
                </a:r>
                <a:r>
                  <a:rPr lang="ru-RU" dirty="0" err="1"/>
                  <a:t>max</a:t>
                </a:r>
                <a:r>
                  <a:rPr lang="ru-RU" dirty="0"/>
                  <a:t> фильтр)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/>
                        <m:t>[</m:t>
                      </m:r>
                      <m:sSub>
                        <m:sSubPr>
                          <m:ctrlPr>
                            <a:rPr lang="ru-RU" i="1"/>
                          </m:ctrlPr>
                        </m:sSubPr>
                        <m:e>
                          <m:r>
                            <a:rPr lang="ru-RU" i="1"/>
                            <m:t>𝛿</m:t>
                          </m:r>
                        </m:e>
                        <m:sub>
                          <m:r>
                            <a:rPr lang="ru-RU" i="1"/>
                            <m:t>𝑔</m:t>
                          </m:r>
                        </m:sub>
                      </m:sSub>
                      <m:r>
                        <a:rPr lang="ru-RU" i="1"/>
                        <m:t>(</m:t>
                      </m:r>
                      <m:r>
                        <a:rPr lang="ru-RU" i="1"/>
                        <m:t>𝑓</m:t>
                      </m:r>
                      <m:r>
                        <a:rPr lang="ru-RU" i="1"/>
                        <m:t>)](</m:t>
                      </m:r>
                      <m:r>
                        <a:rPr lang="ru-RU" i="1"/>
                        <m:t>𝑥</m:t>
                      </m:r>
                      <m:r>
                        <a:rPr lang="ru-RU" i="1"/>
                        <m:t>,</m:t>
                      </m:r>
                      <m:r>
                        <a:rPr lang="ru-RU" i="1"/>
                        <m:t>𝑦</m:t>
                      </m:r>
                      <m:r>
                        <a:rPr lang="ru-RU" i="1"/>
                        <m:t>)=</m:t>
                      </m:r>
                      <m:limLow>
                        <m:limLowPr>
                          <m:ctrlPr>
                            <a:rPr lang="ru-RU" i="1"/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ru-RU"/>
                            <m:t>max</m:t>
                          </m:r>
                        </m:e>
                        <m:lim>
                          <m:r>
                            <a:rPr lang="ru-RU" i="1"/>
                            <m:t>(</m:t>
                          </m:r>
                          <m:r>
                            <a:rPr lang="ru-RU" i="1"/>
                            <m:t>𝑠</m:t>
                          </m:r>
                          <m:r>
                            <a:rPr lang="ru-RU" i="1"/>
                            <m:t>,</m:t>
                          </m:r>
                          <m:r>
                            <a:rPr lang="ru-RU" i="1"/>
                            <m:t>𝑡</m:t>
                          </m:r>
                          <m:r>
                            <a:rPr lang="ru-RU" i="1"/>
                            <m:t>)∈</m:t>
                          </m:r>
                          <m:sSub>
                            <m:sSubPr>
                              <m:ctrlPr>
                                <a:rPr lang="ru-RU" i="1"/>
                              </m:ctrlPr>
                            </m:sSubPr>
                            <m:e>
                              <m:r>
                                <a:rPr lang="ru-RU" i="1"/>
                                <m:t>𝐷</m:t>
                              </m:r>
                            </m:e>
                            <m:sub>
                              <m:r>
                                <a:rPr lang="ru-RU" i="1"/>
                                <m:t>𝑔</m:t>
                              </m:r>
                            </m:sub>
                          </m:sSub>
                        </m:lim>
                      </m:limLow>
                      <m:d>
                        <m:dPr>
                          <m:begChr m:val="{"/>
                          <m:endChr m:val="}"/>
                          <m:sepChr m:val=""/>
                          <m:ctrlPr>
                            <a:rPr lang="ru-RU" i="1"/>
                          </m:ctrlPr>
                        </m:dPr>
                        <m:e>
                          <m:r>
                            <a:rPr lang="ru-RU" i="1"/>
                            <m:t>𝑓</m:t>
                          </m:r>
                        </m:e>
                        <m:e>
                          <m:r>
                            <a:rPr lang="ru-RU" i="1"/>
                            <m:t>(</m:t>
                          </m:r>
                        </m:e>
                        <m:e>
                          <m:r>
                            <a:rPr lang="ru-RU" i="1"/>
                            <m:t>𝑥</m:t>
                          </m:r>
                        </m:e>
                        <m:e>
                          <m:r>
                            <a:rPr lang="ru-RU" i="1"/>
                            <m:t>+</m:t>
                          </m:r>
                        </m:e>
                        <m:e>
                          <m:r>
                            <a:rPr lang="ru-RU" i="1"/>
                            <m:t>𝑠</m:t>
                          </m:r>
                        </m:e>
                        <m:e>
                          <m:r>
                            <a:rPr lang="ru-RU" i="1"/>
                            <m:t>,</m:t>
                          </m:r>
                        </m:e>
                        <m:e>
                          <m:r>
                            <a:rPr lang="ru-RU" i="1"/>
                            <m:t>𝑦</m:t>
                          </m:r>
                        </m:e>
                        <m:e>
                          <m:r>
                            <a:rPr lang="ru-RU" i="1"/>
                            <m:t>+</m:t>
                          </m:r>
                        </m:e>
                        <m:e>
                          <m:r>
                            <a:rPr lang="ru-RU" i="1"/>
                            <m:t>𝑡</m:t>
                          </m:r>
                        </m:e>
                        <m:e>
                          <m:r>
                            <a:rPr lang="ru-RU" i="1"/>
                            <m:t>)</m:t>
                          </m:r>
                        </m:e>
                        <m:e>
                          <m:r>
                            <a:rPr lang="ru-RU" i="1"/>
                            <m:t>+</m:t>
                          </m:r>
                        </m:e>
                        <m:e>
                          <m:r>
                            <a:rPr lang="ru-RU" i="1"/>
                            <m:t>𝑔</m:t>
                          </m:r>
                        </m:e>
                        <m:e>
                          <m:r>
                            <a:rPr lang="ru-RU" i="1"/>
                            <m:t>(</m:t>
                          </m:r>
                        </m:e>
                        <m:e>
                          <m:r>
                            <a:rPr lang="ru-RU" i="1"/>
                            <m:t>𝑠</m:t>
                          </m:r>
                        </m:e>
                        <m:e>
                          <m:r>
                            <a:rPr lang="ru-RU" i="1"/>
                            <m:t>,</m:t>
                          </m:r>
                        </m:e>
                        <m:e>
                          <m:r>
                            <a:rPr lang="ru-RU" i="1"/>
                            <m:t>𝑡</m:t>
                          </m:r>
                        </m:e>
                        <m:e>
                          <m:r>
                            <a:rPr lang="ru-RU" i="1"/>
                            <m:t>)</m:t>
                          </m:r>
                        </m:e>
                      </m:d>
                    </m:oMath>
                  </m:oMathPara>
                </a14:m>
                <a:endParaRPr lang="ru-RU" dirty="0"/>
              </a:p>
              <a:p>
                <a:r>
                  <a:rPr lang="ru-RU" dirty="0"/>
                  <a:t>Открытие (эрозия + дилатация)</a:t>
                </a:r>
              </a:p>
              <a:p>
                <a:r>
                  <a:rPr lang="ru-RU" dirty="0"/>
                  <a:t>Закрытие (дилатация + эрозия)</a:t>
                </a:r>
              </a:p>
              <a:p>
                <a:endParaRPr lang="ru-RU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605C35B-A317-4BE7-8ED7-CA80968687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70712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CC3C3D-364D-4683-B02F-93102A7D1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Структурный элемент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348030AB-7258-498C-B231-CDA602F370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9267" y="1752952"/>
            <a:ext cx="11253465" cy="3352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0232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840060-8723-43CA-A512-77B788106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Эрозия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C3C1C348-9DC7-416E-8D38-8EE5C269B5B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082" y="1690688"/>
            <a:ext cx="10107774" cy="4227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76633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3E468D-8241-4194-AC8B-F9F79055C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Эрозия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F01BECF1-D5F6-48A0-BAE1-9A618744D5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48694"/>
            <a:ext cx="1051560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5615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4A62BB-6854-433E-82FD-66B56A51C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Дилатация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EA480BCB-3B44-4F89-BE48-3D274A7910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3937" y="1939131"/>
            <a:ext cx="10144125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3880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3FEAF3-1748-46ED-87AD-2A1114674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Дилатация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888C9E0D-9FEF-40DF-A3A8-4108C4DD91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48694"/>
            <a:ext cx="1051560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4791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3979CE-DEC4-4325-A1E5-87FCEA9F2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Фильтр Ли для сложных текстур</a:t>
            </a:r>
            <a:br>
              <a:rPr lang="ru-RU" b="1" dirty="0"/>
            </a:b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E7B6303-3936-4BF4-9DB9-E5B39DEFF6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b="1" dirty="0"/>
                  <a:t>Применение:</a:t>
                </a:r>
                <a:r>
                  <a:rPr lang="ru-RU" dirty="0"/>
                  <a:t> Для изображений с неоднородным шумом</a:t>
                </a:r>
              </a:p>
              <a:p>
                <a:pPr marL="0" indent="0">
                  <a:buNone/>
                </a:pPr>
                <a:r>
                  <a:rPr lang="ru-RU" b="1" dirty="0"/>
                  <a:t>Формула:</a:t>
                </a:r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/>
                        <m:t>𝑔</m:t>
                      </m:r>
                      <m:r>
                        <a:rPr lang="ru-RU" i="1"/>
                        <m:t>(</m:t>
                      </m:r>
                      <m:r>
                        <a:rPr lang="ru-RU" i="1"/>
                        <m:t>𝑥</m:t>
                      </m:r>
                      <m:r>
                        <a:rPr lang="ru-RU" i="1"/>
                        <m:t>,</m:t>
                      </m:r>
                      <m:r>
                        <a:rPr lang="ru-RU" i="1"/>
                        <m:t>𝑦</m:t>
                      </m:r>
                      <m:r>
                        <a:rPr lang="ru-RU" i="1"/>
                        <m:t>)=</m:t>
                      </m:r>
                      <m:r>
                        <a:rPr lang="ru-RU" i="1"/>
                        <m:t>𝜇</m:t>
                      </m:r>
                      <m:r>
                        <a:rPr lang="ru-RU" i="1"/>
                        <m:t>+</m:t>
                      </m:r>
                      <m:f>
                        <m:fPr>
                          <m:ctrlPr>
                            <a:rPr lang="ru-RU" i="1"/>
                          </m:ctrlPr>
                        </m:fPr>
                        <m:num>
                          <m:sSup>
                            <m:sSupPr>
                              <m:ctrlPr>
                                <a:rPr lang="ru-RU" i="1"/>
                              </m:ctrlPr>
                            </m:sSupPr>
                            <m:e>
                              <m:r>
                                <a:rPr lang="ru-RU" i="1"/>
                                <m:t>𝜎</m:t>
                              </m:r>
                            </m:e>
                            <m:sup>
                              <m:r>
                                <a:rPr lang="ru-RU" i="1"/>
                                <m:t>2</m:t>
                              </m:r>
                            </m:sup>
                          </m:sSup>
                          <m:r>
                            <a:rPr lang="ru-RU" i="1"/>
                            <m:t>−</m:t>
                          </m:r>
                          <m:sSup>
                            <m:sSupPr>
                              <m:ctrlPr>
                                <a:rPr lang="ru-RU" i="1"/>
                              </m:ctrlPr>
                            </m:sSupPr>
                            <m:e>
                              <m:r>
                                <a:rPr lang="ru-RU" i="1"/>
                                <m:t>𝜈</m:t>
                              </m:r>
                            </m:e>
                            <m:sup>
                              <m:r>
                                <a:rPr lang="ru-RU" i="1"/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ru-RU" i="1"/>
                              </m:ctrlPr>
                            </m:sSupPr>
                            <m:e>
                              <m:r>
                                <a:rPr lang="ru-RU" i="1"/>
                                <m:t>𝜎</m:t>
                              </m:r>
                            </m:e>
                            <m:sup>
                              <m:r>
                                <a:rPr lang="ru-RU" i="1"/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ru-RU" i="1"/>
                        <m:t>(</m:t>
                      </m:r>
                      <m:r>
                        <a:rPr lang="ru-RU" i="1"/>
                        <m:t>𝑓</m:t>
                      </m:r>
                      <m:r>
                        <a:rPr lang="ru-RU" i="1"/>
                        <m:t>(</m:t>
                      </m:r>
                      <m:r>
                        <a:rPr lang="ru-RU" i="1"/>
                        <m:t>𝑥</m:t>
                      </m:r>
                      <m:r>
                        <a:rPr lang="ru-RU" i="1"/>
                        <m:t>,</m:t>
                      </m:r>
                      <m:r>
                        <a:rPr lang="ru-RU" i="1"/>
                        <m:t>𝑦</m:t>
                      </m:r>
                      <m:r>
                        <a:rPr lang="ru-RU" i="1"/>
                        <m:t>)−</m:t>
                      </m:r>
                      <m:r>
                        <a:rPr lang="ru-RU" i="1"/>
                        <m:t>𝜇</m:t>
                      </m:r>
                      <m:r>
                        <a:rPr lang="ru-RU" i="1"/>
                        <m:t>)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b="1" dirty="0"/>
                  <a:t>Задача:</a:t>
                </a:r>
                <a:r>
                  <a:rPr lang="ru-RU" dirty="0"/>
                  <a:t> Рассчитайте значение фильтра Ли для пикселя со значением 120, где:</a:t>
                </a:r>
              </a:p>
              <a:p>
                <a:r>
                  <a:rPr lang="ru-RU" dirty="0"/>
                  <a:t>μ = 100 (среднее в окрестности)</a:t>
                </a:r>
              </a:p>
              <a:p>
                <a:r>
                  <a:rPr lang="ru-RU" dirty="0"/>
                  <a:t>σ² = 400 (дисперсия в окрестности)</a:t>
                </a:r>
              </a:p>
              <a:p>
                <a:r>
                  <a:rPr lang="ru-RU" dirty="0"/>
                  <a:t>ν² = 100 (дисперсия шума)</a:t>
                </a:r>
              </a:p>
              <a:p>
                <a:endParaRPr lang="ru-RU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E7B6303-3936-4BF4-9DB9-E5B39DEFF6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 b="-42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93931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75AF12-BA43-4A34-9EC3-FFC6CE55A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ПРИМЕНЕНИЕ ФИЛЬТРОВ ДЛЯ РЕШЕНИЯ ЗАДАЧ ОБРАБОТКИ ИЗОБРАЖЕНИЙ</a:t>
            </a: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CF94A4CB-47F4-474D-BCD2-728B09078D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1135694"/>
              </p:ext>
            </p:extLst>
          </p:nvPr>
        </p:nvGraphicFramePr>
        <p:xfrm>
          <a:off x="838199" y="1825625"/>
          <a:ext cx="10515601" cy="4650356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325010">
                  <a:extLst>
                    <a:ext uri="{9D8B030D-6E8A-4147-A177-3AD203B41FA5}">
                      <a16:colId xmlns:a16="http://schemas.microsoft.com/office/drawing/2014/main" val="2556197957"/>
                    </a:ext>
                  </a:extLst>
                </a:gridCol>
                <a:gridCol w="2730197">
                  <a:extLst>
                    <a:ext uri="{9D8B030D-6E8A-4147-A177-3AD203B41FA5}">
                      <a16:colId xmlns:a16="http://schemas.microsoft.com/office/drawing/2014/main" val="4137224227"/>
                    </a:ext>
                  </a:extLst>
                </a:gridCol>
                <a:gridCol w="2730197">
                  <a:extLst>
                    <a:ext uri="{9D8B030D-6E8A-4147-A177-3AD203B41FA5}">
                      <a16:colId xmlns:a16="http://schemas.microsoft.com/office/drawing/2014/main" val="2421357880"/>
                    </a:ext>
                  </a:extLst>
                </a:gridCol>
                <a:gridCol w="2730197">
                  <a:extLst>
                    <a:ext uri="{9D8B030D-6E8A-4147-A177-3AD203B41FA5}">
                      <a16:colId xmlns:a16="http://schemas.microsoft.com/office/drawing/2014/main" val="3694501812"/>
                    </a:ext>
                  </a:extLst>
                </a:gridCol>
              </a:tblGrid>
              <a:tr h="323079"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effectLst/>
                        </a:rPr>
                        <a:t>Задача</a:t>
                      </a:r>
                      <a:endParaRPr lang="ru-RU" sz="1600" b="0" dirty="0">
                        <a:effectLst/>
                        <a:latin typeface="quote-cjk-patch"/>
                      </a:endParaRPr>
                    </a:p>
                  </a:txBody>
                  <a:tcPr marL="73613" marR="81792" marT="51120" marB="5112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effectLst/>
                        </a:rPr>
                        <a:t>Тип фильтра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81792" marR="81792" marT="51120" marB="5112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effectLst/>
                        </a:rPr>
                        <a:t>Примеры фильтров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81792" marR="81792" marT="51120" marB="5112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effectLst/>
                        </a:rPr>
                        <a:t>Визуальный эффект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81792" marR="81792" marT="51120" marB="51120" anchor="ctr"/>
                </a:tc>
                <a:extLst>
                  <a:ext uri="{0D108BD9-81ED-4DB2-BD59-A6C34878D82A}">
                    <a16:rowId xmlns:a16="http://schemas.microsoft.com/office/drawing/2014/main" val="291722348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r>
                        <a:rPr lang="ru-RU" sz="1600" b="1" dirty="0">
                          <a:effectLst/>
                        </a:rPr>
                        <a:t>Подавление шума</a:t>
                      </a:r>
                      <a:endParaRPr lang="ru-RU" sz="1600" b="0" dirty="0">
                        <a:effectLst/>
                        <a:latin typeface="quote-cjk-patch"/>
                      </a:endParaRPr>
                    </a:p>
                  </a:txBody>
                  <a:tcPr marL="73613" marR="81792" marT="51120" marB="51120" anchor="ctr"/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effectLst/>
                        </a:rPr>
                        <a:t>Сглаживающие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81792" marR="81792" marT="51120" marB="51120" anchor="ctr"/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</a:rPr>
                        <a:t>Гауссов, Усредняющий, Медианный</a:t>
                      </a:r>
                      <a:endParaRPr lang="ru-RU" sz="1600" b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81792" marR="81792" marT="51120" marB="51120" anchor="ctr"/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effectLst/>
                        </a:rPr>
                        <a:t>Размытие, уменьшение зернистости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81792" marR="81792" marT="51120" marB="51120" anchor="ctr"/>
                </a:tc>
                <a:extLst>
                  <a:ext uri="{0D108BD9-81ED-4DB2-BD59-A6C34878D82A}">
                    <a16:rowId xmlns:a16="http://schemas.microsoft.com/office/drawing/2014/main" val="1739927623"/>
                  </a:ext>
                </a:extLst>
              </a:tr>
              <a:tr h="764756"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Повышение резкости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73613" marR="81792" marT="51120" marB="51120" anchor="ctr"/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</a:rPr>
                        <a:t>Контурные</a:t>
                      </a:r>
                      <a:endParaRPr lang="ru-RU" sz="1600" b="0" dirty="0">
                        <a:effectLst/>
                        <a:latin typeface="quote-cjk-patch"/>
                      </a:endParaRPr>
                    </a:p>
                  </a:txBody>
                  <a:tcPr marL="81792" marR="81792" marT="51120" marB="51120" anchor="ctr"/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</a:rPr>
                        <a:t>Лапласиан, Нерезкая маска, Фильтр высоких частот</a:t>
                      </a:r>
                      <a:endParaRPr lang="ru-RU" sz="1600" b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81792" marR="81792" marT="51120" marB="51120" anchor="ctr"/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effectLst/>
                        </a:rPr>
                        <a:t>Подчеркивание границ и деталей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81792" marR="81792" marT="51120" marB="51120" anchor="ctr"/>
                </a:tc>
                <a:extLst>
                  <a:ext uri="{0D108BD9-81ED-4DB2-BD59-A6C34878D82A}">
                    <a16:rowId xmlns:a16="http://schemas.microsoft.com/office/drawing/2014/main" val="2603864662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Выделение границ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73613" marR="81792" marT="51120" marB="51120" anchor="ctr"/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</a:rPr>
                        <a:t>Градиентные</a:t>
                      </a:r>
                      <a:endParaRPr lang="ru-RU" sz="1600" b="0" dirty="0">
                        <a:effectLst/>
                        <a:latin typeface="quote-cjk-patch"/>
                      </a:endParaRPr>
                    </a:p>
                  </a:txBody>
                  <a:tcPr marL="81792" marR="81792" marT="51120" marB="51120" anchor="ctr"/>
                </a:tc>
                <a:tc>
                  <a:txBody>
                    <a:bodyPr/>
                    <a:lstStyle/>
                    <a:p>
                      <a:r>
                        <a:rPr lang="ru-RU" sz="1600" b="0" dirty="0" err="1">
                          <a:solidFill>
                            <a:schemeClr val="tx1"/>
                          </a:solidFill>
                          <a:effectLst/>
                        </a:rPr>
                        <a:t>Собела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</a:rPr>
                        <a:t>, Робертса, </a:t>
                      </a:r>
                      <a:r>
                        <a:rPr lang="ru-RU" sz="1600" b="0" dirty="0" err="1">
                          <a:solidFill>
                            <a:schemeClr val="tx1"/>
                          </a:solidFill>
                          <a:effectLst/>
                        </a:rPr>
                        <a:t>Превитта</a:t>
                      </a:r>
                      <a:endParaRPr lang="ru-RU" sz="1600" b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81792" marR="81792" marT="51120" marB="51120" anchor="ctr"/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effectLst/>
                        </a:rPr>
                        <a:t>Четкие белые линии на черном фоне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81792" marR="81792" marT="51120" marB="51120" anchor="ctr"/>
                </a:tc>
                <a:extLst>
                  <a:ext uri="{0D108BD9-81ED-4DB2-BD59-A6C34878D82A}">
                    <a16:rowId xmlns:a16="http://schemas.microsoft.com/office/drawing/2014/main" val="1943693568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Улучшение контраста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73613" marR="81792" marT="51120" marB="51120" anchor="ctr"/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effectLst/>
                        </a:rPr>
                        <a:t>Статистические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81792" marR="81792" marT="51120" marB="51120" anchor="ctr"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Histogram Equalization, CLAHE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81792" marR="81792" marT="51120" marB="51120" anchor="ctr"/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effectLst/>
                        </a:rPr>
                        <a:t>Более равномерное распределение яркости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81792" marR="81792" marT="51120" marB="51120" anchor="ctr"/>
                </a:tc>
                <a:extLst>
                  <a:ext uri="{0D108BD9-81ED-4DB2-BD59-A6C34878D82A}">
                    <a16:rowId xmlns:a16="http://schemas.microsoft.com/office/drawing/2014/main" val="3534870658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Сегментация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73613" marR="81792" marT="51120" marB="51120" anchor="ctr"/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effectLst/>
                        </a:rPr>
                        <a:t>Морфологические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81792" marR="81792" marT="51120" marB="51120" anchor="ctr"/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</a:rPr>
                        <a:t>Эрозия, Дилатация, Замыкание</a:t>
                      </a:r>
                      <a:endParaRPr lang="ru-RU" sz="1600" b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81792" marR="81792" marT="51120" marB="51120" anchor="ctr"/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effectLst/>
                        </a:rPr>
                        <a:t>Объединение или разделение объектов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81792" marR="81792" marT="51120" marB="51120" anchor="ctr"/>
                </a:tc>
                <a:extLst>
                  <a:ext uri="{0D108BD9-81ED-4DB2-BD59-A6C34878D82A}">
                    <a16:rowId xmlns:a16="http://schemas.microsoft.com/office/drawing/2014/main" val="2446175374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Нахождение особенностей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73613" marR="81792" marT="51120" marB="51120" anchor="ctr"/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effectLst/>
                        </a:rPr>
                        <a:t>Точечные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81792" marR="81792" marT="51120" marB="51120" anchor="ctr"/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</a:rPr>
                        <a:t>Детектор углов Харриса, </a:t>
                      </a:r>
                      <a:r>
                        <a:rPr lang="ru-RU" sz="1600" b="0" dirty="0" err="1">
                          <a:solidFill>
                            <a:schemeClr val="tx1"/>
                          </a:solidFill>
                          <a:effectLst/>
                        </a:rPr>
                        <a:t>LoG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ru-RU" sz="1600" b="0" dirty="0" err="1">
                          <a:solidFill>
                            <a:schemeClr val="tx1"/>
                          </a:solidFill>
                          <a:effectLst/>
                        </a:rPr>
                        <a:t>DoG</a:t>
                      </a:r>
                      <a:endParaRPr lang="ru-RU" sz="1600" b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81792" marR="81792" marT="51120" marB="51120" anchor="ctr"/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effectLst/>
                        </a:rPr>
                        <a:t>Выделение углов, </a:t>
                      </a:r>
                      <a:r>
                        <a:rPr lang="en-US" sz="1600" b="0">
                          <a:effectLst/>
                        </a:rPr>
                        <a:t>blob-</a:t>
                      </a:r>
                      <a:r>
                        <a:rPr lang="ru-RU" sz="1600" b="0">
                          <a:effectLst/>
                        </a:rPr>
                        <a:t>структур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81792" marR="81792" marT="51120" marB="51120" anchor="ctr"/>
                </a:tc>
                <a:extLst>
                  <a:ext uri="{0D108BD9-81ED-4DB2-BD59-A6C34878D82A}">
                    <a16:rowId xmlns:a16="http://schemas.microsoft.com/office/drawing/2014/main" val="2305347632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Удаление артефактов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73613" marR="81792" marT="51120" marB="51120" anchor="ctr"/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effectLst/>
                        </a:rPr>
                        <a:t>Адаптивные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81792" marR="81792" marT="51120" marB="51120" anchor="ctr"/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</a:rPr>
                        <a:t>Билатеральный, Фильтр Винера,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NL-Means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81792" marR="81792" marT="51120" marB="51120" anchor="ctr"/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</a:rPr>
                        <a:t>Сглаживание с сохранением границ</a:t>
                      </a:r>
                      <a:endParaRPr lang="ru-RU" sz="1600" b="0" dirty="0">
                        <a:effectLst/>
                        <a:latin typeface="quote-cjk-patch"/>
                      </a:endParaRPr>
                    </a:p>
                  </a:txBody>
                  <a:tcPr marL="81792" marR="81792" marT="51120" marB="51120" anchor="ctr"/>
                </a:tc>
                <a:extLst>
                  <a:ext uri="{0D108BD9-81ED-4DB2-BD59-A6C34878D82A}">
                    <a16:rowId xmlns:a16="http://schemas.microsoft.com/office/drawing/2014/main" val="15644271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26047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7BF9C9-5B90-4634-B98E-8A8DAC584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Заключение и дальнейшие шаги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329D4B-7496-4DDB-941A-DEE936E1B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b="1" dirty="0"/>
              <a:t>Ключевые моменты:</a:t>
            </a:r>
            <a:endParaRPr lang="ru-RU" dirty="0"/>
          </a:p>
          <a:p>
            <a:r>
              <a:rPr lang="ru-RU" dirty="0"/>
              <a:t>Пространственная фильтрация - фундамент обработки изображений</a:t>
            </a:r>
          </a:p>
          <a:p>
            <a:r>
              <a:rPr lang="ru-RU" dirty="0"/>
              <a:t>Правильный выбор фильтра зависит от задачи и типа шума</a:t>
            </a:r>
          </a:p>
          <a:p>
            <a:r>
              <a:rPr lang="ru-RU" dirty="0"/>
              <a:t>Современные методы сочетают классические и </a:t>
            </a:r>
            <a:r>
              <a:rPr lang="ru-RU" dirty="0" err="1"/>
              <a:t>нейросетевые</a:t>
            </a:r>
            <a:r>
              <a:rPr lang="ru-RU" dirty="0"/>
              <a:t> подходы</a:t>
            </a:r>
          </a:p>
          <a:p>
            <a:pPr marL="0" indent="0">
              <a:buNone/>
            </a:pPr>
            <a:r>
              <a:rPr lang="ru-RU" b="1" dirty="0"/>
              <a:t>Рекомендации:</a:t>
            </a:r>
            <a:endParaRPr lang="ru-RU" dirty="0"/>
          </a:p>
          <a:p>
            <a:r>
              <a:rPr lang="ru-RU" dirty="0"/>
              <a:t>Реализовать все рассмотренные фильтры на практике</a:t>
            </a:r>
          </a:p>
          <a:p>
            <a:r>
              <a:rPr lang="ru-RU" dirty="0"/>
              <a:t>Экспериментировать с параметрами на реальных изображениях</a:t>
            </a:r>
          </a:p>
          <a:p>
            <a:r>
              <a:rPr lang="ru-RU" dirty="0"/>
              <a:t>Изучать частотные методы для полного понимания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23636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D2702B-628D-4583-AAC7-765D0F43C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Сглаживание однородным фильтром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FCA112-965A-4A85-BCB4-EDF7C966D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Задача:</a:t>
            </a:r>
          </a:p>
          <a:p>
            <a:pPr marL="0" indent="0">
              <a:buNone/>
            </a:pPr>
            <a:r>
              <a:rPr lang="ru-RU" dirty="0"/>
              <a:t>Примените однородный усредняющий фильтр 3x3 к центральному пикселю фрагмента изображения: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[10  20  30]</a:t>
            </a:r>
          </a:p>
          <a:p>
            <a:pPr marL="0" indent="0">
              <a:buNone/>
            </a:pPr>
            <a:r>
              <a:rPr lang="ru-RU" dirty="0"/>
              <a:t>[40  50  60]</a:t>
            </a:r>
          </a:p>
          <a:p>
            <a:pPr marL="0" indent="0">
              <a:buNone/>
            </a:pPr>
            <a:r>
              <a:rPr lang="ru-RU" dirty="0"/>
              <a:t>[70  80  90]</a:t>
            </a:r>
          </a:p>
        </p:txBody>
      </p:sp>
    </p:spTree>
    <p:extLst>
      <p:ext uri="{BB962C8B-B14F-4D97-AF65-F5344CB8AC3E}">
        <p14:creationId xmlns:p14="http://schemas.microsoft.com/office/powerpoint/2010/main" val="35885862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12270B-F1DC-411D-B55E-E49C57F07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Медианная фильтрация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310581-570A-481E-9EAD-B688CAD76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Задача:</a:t>
            </a:r>
          </a:p>
          <a:p>
            <a:pPr marL="0" indent="0">
              <a:buNone/>
            </a:pPr>
            <a:r>
              <a:rPr lang="ru-RU" dirty="0"/>
              <a:t>Примените медианный фильтр 3x3 к центральному пикселю: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[15  18  12]</a:t>
            </a:r>
          </a:p>
          <a:p>
            <a:pPr marL="0" indent="0">
              <a:buNone/>
            </a:pPr>
            <a:r>
              <a:rPr lang="ru-RU" dirty="0"/>
              <a:t>[20  255 17]</a:t>
            </a:r>
          </a:p>
          <a:p>
            <a:pPr marL="0" indent="0">
              <a:buNone/>
            </a:pPr>
            <a:r>
              <a:rPr lang="ru-RU" dirty="0"/>
              <a:t>[14  16  19]</a:t>
            </a:r>
          </a:p>
        </p:txBody>
      </p:sp>
    </p:spTree>
    <p:extLst>
      <p:ext uri="{BB962C8B-B14F-4D97-AF65-F5344CB8AC3E}">
        <p14:creationId xmlns:p14="http://schemas.microsoft.com/office/powerpoint/2010/main" val="4326165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477FAD-6836-404C-8C2A-B5C77B0AA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Вычисление лапласиана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98A9AAE-9443-48A2-ACE7-EED2D57379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ru-RU" dirty="0"/>
                  <a:t>Задача:</a:t>
                </a:r>
              </a:p>
              <a:p>
                <a:pPr marL="0" indent="0">
                  <a:buNone/>
                </a:pPr>
                <a:r>
                  <a:rPr lang="ru-RU" dirty="0"/>
                  <a:t>Примените лапласиан (маска с диагоналями) к центральному пикселю:</a:t>
                </a:r>
              </a:p>
              <a:p>
                <a:endParaRPr lang="ru-RU" dirty="0"/>
              </a:p>
              <a:p>
                <a:pPr marL="0" indent="0" algn="ctr">
                  <a:buNone/>
                </a:pPr>
                <a:r>
                  <a:rPr lang="ru-RU" dirty="0"/>
                  <a:t>[1  2  1]</a:t>
                </a:r>
              </a:p>
              <a:p>
                <a:pPr marL="0" indent="0" algn="ctr">
                  <a:buNone/>
                </a:pPr>
                <a:r>
                  <a:rPr lang="ru-RU" dirty="0"/>
                  <a:t>[0  4  2]</a:t>
                </a:r>
              </a:p>
              <a:p>
                <a:pPr marL="0" indent="0" algn="ctr">
                  <a:buNone/>
                </a:pPr>
                <a:r>
                  <a:rPr lang="ru-RU" dirty="0"/>
                  <a:t>[3  1  5]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b="1" dirty="0"/>
                  <a:t>Маска:				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ru-RU" i="1"/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ru-RU" i="1"/>
                            </m:ctrlPr>
                          </m:mPr>
                          <m:mr>
                            <m:e>
                              <m:r>
                                <a:rPr lang="ru-RU" i="1"/>
                                <m:t>1</m:t>
                              </m:r>
                            </m:e>
                            <m:e>
                              <m:r>
                                <a:rPr lang="ru-RU" i="1"/>
                                <m:t>1</m:t>
                              </m:r>
                            </m:e>
                            <m:e>
                              <m:r>
                                <a:rPr lang="ru-RU" i="1"/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ru-RU" i="1"/>
                                <m:t>1</m:t>
                              </m:r>
                            </m:e>
                            <m:e>
                              <m:r>
                                <a:rPr lang="ru-RU" i="1"/>
                                <m:t>−8</m:t>
                              </m:r>
                            </m:e>
                            <m:e>
                              <m:r>
                                <a:rPr lang="ru-RU" i="1"/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ru-RU" i="1"/>
                                <m:t>1</m:t>
                              </m:r>
                            </m:e>
                            <m:e>
                              <m:r>
                                <a:rPr lang="ru-RU" i="1"/>
                                <m:t>1</m:t>
                              </m:r>
                            </m:e>
                            <m:e>
                              <m:r>
                                <a:rPr lang="ru-RU" i="1"/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ru-RU" dirty="0"/>
              </a:p>
              <a:p>
                <a:pPr marL="0" indent="0">
                  <a:buNone/>
                </a:pPr>
                <a:endParaRPr lang="ru-RU" b="1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98A9AAE-9443-48A2-ACE7-EED2D57379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45214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08278E-70A1-4BF8-BE08-82685E790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Оператор </a:t>
            </a:r>
            <a:r>
              <a:rPr lang="ru-RU" b="1" dirty="0" err="1"/>
              <a:t>Собела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11274CF-AA10-4282-B653-9DA0A6EAD8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ru-RU" dirty="0"/>
                  <a:t>Задача:</a:t>
                </a:r>
              </a:p>
              <a:p>
                <a:pPr marL="0" indent="0">
                  <a:buNone/>
                </a:pPr>
                <a:r>
                  <a:rPr lang="ru-RU" dirty="0"/>
                  <a:t>Вычислите градиент по оси X с помощью оператора </a:t>
                </a:r>
                <a:r>
                  <a:rPr lang="ru-RU" dirty="0" err="1"/>
                  <a:t>Собела</a:t>
                </a:r>
                <a:r>
                  <a:rPr lang="ru-RU" dirty="0"/>
                  <a:t> для центрального пикселя:</a:t>
                </a:r>
              </a:p>
              <a:p>
                <a:endParaRPr lang="ru-RU" dirty="0"/>
              </a:p>
              <a:p>
                <a:pPr marL="0" indent="0" algn="ctr">
                  <a:buNone/>
                </a:pPr>
                <a:r>
                  <a:rPr lang="ru-RU" dirty="0"/>
                  <a:t>[10  20  30]</a:t>
                </a:r>
              </a:p>
              <a:p>
                <a:pPr marL="0" indent="0" algn="ctr">
                  <a:buNone/>
                </a:pPr>
                <a:r>
                  <a:rPr lang="ru-RU" dirty="0"/>
                  <a:t>[40  50  60]</a:t>
                </a:r>
              </a:p>
              <a:p>
                <a:pPr marL="0" indent="0" algn="ctr">
                  <a:buNone/>
                </a:pPr>
                <a:r>
                  <a:rPr lang="ru-RU" dirty="0"/>
                  <a:t>[70  80  90]</a:t>
                </a:r>
              </a:p>
              <a:p>
                <a:pPr marL="0" indent="0" algn="ctr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Маска:				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ru-RU" i="1"/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ru-RU" i="1"/>
                            </m:ctrlPr>
                          </m:mPr>
                          <m:mr>
                            <m:e>
                              <m:r>
                                <a:rPr lang="ru-RU" i="1"/>
                                <m:t>−1</m:t>
                              </m:r>
                            </m:e>
                            <m:e>
                              <m:r>
                                <a:rPr lang="ru-RU" i="1"/>
                                <m:t>0</m:t>
                              </m:r>
                            </m:e>
                            <m:e>
                              <m:r>
                                <a:rPr lang="ru-RU" i="1"/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ru-RU" i="1"/>
                                <m:t>−2</m:t>
                              </m:r>
                            </m:e>
                            <m:e>
                              <m:r>
                                <a:rPr lang="ru-RU" i="1"/>
                                <m:t>0</m:t>
                              </m:r>
                            </m:e>
                            <m:e>
                              <m:r>
                                <a:rPr lang="ru-RU" i="1"/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ru-RU" i="1"/>
                                <m:t>−1</m:t>
                              </m:r>
                            </m:e>
                            <m:e>
                              <m:r>
                                <a:rPr lang="ru-RU" i="1"/>
                                <m:t>0</m:t>
                              </m:r>
                            </m:e>
                            <m:e>
                              <m:r>
                                <a:rPr lang="ru-RU" i="1"/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ru-RU" dirty="0"/>
              </a:p>
              <a:p>
                <a:pPr marL="0" indent="0" algn="ctr">
                  <a:buNone/>
                </a:pPr>
                <a:endParaRPr lang="ru-RU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11274CF-AA10-4282-B653-9DA0A6EAD8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35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75936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E9A053-E1A1-48C4-9E43-60197B486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Нерезкое маскирование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361198-6B25-44BB-B202-A2BBB95FF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Задача:</a:t>
            </a:r>
            <a:br>
              <a:rPr lang="ru-RU" dirty="0"/>
            </a:br>
            <a:r>
              <a:rPr lang="ru-RU" dirty="0"/>
              <a:t>Исходный пиксель: 100, сглаженное значение: 80, </a:t>
            </a:r>
            <a:r>
              <a:rPr lang="ru-RU" i="1" dirty="0"/>
              <a:t>k</a:t>
            </a:r>
            <a:r>
              <a:rPr lang="ru-RU" dirty="0"/>
              <a:t>=1.5.</a:t>
            </a:r>
            <a:br>
              <a:rPr lang="ru-RU" dirty="0"/>
            </a:br>
            <a:r>
              <a:rPr lang="ru-RU" dirty="0"/>
              <a:t>Вычислите результат нерезкого маскирования.</a:t>
            </a:r>
          </a:p>
        </p:txBody>
      </p:sp>
    </p:spTree>
    <p:extLst>
      <p:ext uri="{BB962C8B-B14F-4D97-AF65-F5344CB8AC3E}">
        <p14:creationId xmlns:p14="http://schemas.microsoft.com/office/powerpoint/2010/main" val="370328270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668</TotalTime>
  <Words>1397</Words>
  <Application>Microsoft Office PowerPoint</Application>
  <PresentationFormat>Широкоэкранный</PresentationFormat>
  <Paragraphs>211</Paragraphs>
  <Slides>33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42" baseType="lpstr">
      <vt:lpstr>Arial</vt:lpstr>
      <vt:lpstr>Calibri</vt:lpstr>
      <vt:lpstr>Calibri Light</vt:lpstr>
      <vt:lpstr>KaTeX_Main</vt:lpstr>
      <vt:lpstr>KaTeX_Math</vt:lpstr>
      <vt:lpstr>Newton-Italic</vt:lpstr>
      <vt:lpstr>Newton-Regular</vt:lpstr>
      <vt:lpstr>quote-cjk-patch</vt:lpstr>
      <vt:lpstr>Тема Office</vt:lpstr>
      <vt:lpstr>Презентация PowerPoint</vt:lpstr>
      <vt:lpstr>Основы пространственной фильтрации</vt:lpstr>
      <vt:lpstr>Механизмы пространственной фильтрации</vt:lpstr>
      <vt:lpstr>Линейные фильтры</vt:lpstr>
      <vt:lpstr>Корреляция и свёртка</vt:lpstr>
      <vt:lpstr>Корреляция и свёртка  для изображений</vt:lpstr>
      <vt:lpstr>Сглаживающие пространственные фильтры</vt:lpstr>
      <vt:lpstr>Сглаживающие пространственные фильтры</vt:lpstr>
      <vt:lpstr>Применение сглаживания</vt:lpstr>
      <vt:lpstr>Фильтры, основанные на порядковых статистиках (нелинейные фильтры)</vt:lpstr>
      <vt:lpstr>Пространственные фильтры повышения резкости</vt:lpstr>
      <vt:lpstr>Повышение резкости изображений с использованием вторых производных: лапласиан</vt:lpstr>
      <vt:lpstr>Маска фильтра</vt:lpstr>
      <vt:lpstr>Пример реализации</vt:lpstr>
      <vt:lpstr>Повышение резкости изображения с помощью нерезкого маскирования</vt:lpstr>
      <vt:lpstr>Пример реализации</vt:lpstr>
      <vt:lpstr>Производных первого порядка для (нелинейного) повышения резкости изображений: градиент</vt:lpstr>
      <vt:lpstr>Оператор Робертса и Собела</vt:lpstr>
      <vt:lpstr>Гауссов фильтр — математическая основа</vt:lpstr>
      <vt:lpstr>Морфологические операции как нелинейная фильтрация </vt:lpstr>
      <vt:lpstr>Структурный элемент</vt:lpstr>
      <vt:lpstr>Эрозия</vt:lpstr>
      <vt:lpstr>Эрозия</vt:lpstr>
      <vt:lpstr>Дилатация</vt:lpstr>
      <vt:lpstr>Дилатация</vt:lpstr>
      <vt:lpstr>Фильтр Ли для сложных текстур </vt:lpstr>
      <vt:lpstr>ПРИМЕНЕНИЕ ФИЛЬТРОВ ДЛЯ РЕШЕНИЯ ЗАДАЧ ОБРАБОТКИ ИЗОБРАЖЕНИЙ</vt:lpstr>
      <vt:lpstr>Заключение и дальнейшие шаги </vt:lpstr>
      <vt:lpstr>Сглаживание однородным фильтром</vt:lpstr>
      <vt:lpstr>Медианная фильтрация</vt:lpstr>
      <vt:lpstr>Вычисление лапласиана</vt:lpstr>
      <vt:lpstr>Оператор Собела</vt:lpstr>
      <vt:lpstr>Нерезкое маскирование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пространственной фильтрации</dc:title>
  <dc:creator>Andrey</dc:creator>
  <cp:lastModifiedBy>Наталья Никитина</cp:lastModifiedBy>
  <cp:revision>30</cp:revision>
  <dcterms:created xsi:type="dcterms:W3CDTF">2023-02-19T20:52:13Z</dcterms:created>
  <dcterms:modified xsi:type="dcterms:W3CDTF">2025-09-10T09:14:37Z</dcterms:modified>
</cp:coreProperties>
</file>