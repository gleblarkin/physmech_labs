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79" r:id="rId3"/>
    <p:sldId id="28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1" r:id="rId21"/>
    <p:sldId id="273" r:id="rId22"/>
    <p:sldId id="274" r:id="rId23"/>
    <p:sldId id="275" r:id="rId24"/>
    <p:sldId id="276" r:id="rId25"/>
    <p:sldId id="277" r:id="rId26"/>
    <p:sldId id="278" r:id="rId27"/>
    <p:sldId id="284" r:id="rId28"/>
    <p:sldId id="285" r:id="rId29"/>
    <p:sldId id="286" r:id="rId30"/>
    <p:sldId id="287" r:id="rId31"/>
    <p:sldId id="283" r:id="rId32"/>
    <p:sldId id="282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27075" autoAdjust="0"/>
  </p:normalViewPr>
  <p:slideViewPr>
    <p:cSldViewPr snapToGrid="0">
      <p:cViewPr varScale="1">
        <p:scale>
          <a:sx n="66" d="100"/>
          <a:sy n="66" d="100"/>
        </p:scale>
        <p:origin x="5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2DBD5-6325-4421-AD69-7D9D53D9649E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8B6FF-9FFD-451B-B88C-EC65526947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740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Расчет расстояния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(10,10):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u,v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)=sqrt((u−M/2)^2+(v−N/2)^2)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8B6FF-9FFD-451B-B88C-EC65526947D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63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Расчет частоты среза D0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0​ в частотной области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Формула Гауссова ФНЧ: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/2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0^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Уравнение: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(-40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/2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0^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 относительно D0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0​: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0​≈18.64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Части 1: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Требуемая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частотная характеристика фильтра не зависит от размера изображения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подавления любой частотной компоненты, находящейся на расстоянии D=40 от центра, до уровня 0.1, всегда требуется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частотный фильтр с параметром 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0​≈18.64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Расчет параметра σ для пространственного ядра (для размера 375x500)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Связь между частотной (D0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0​) и пространственной (σ) областями задается формулой: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σ=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(M,N)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2πD0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(Это следует из того, что максимальная частота в дискретном сигнале равна половине его размера (Теорема Котельникова), и нормировки в ДПФ).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Рассчитаем σ в относительных единицах (нормировка к размеру):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sigma_relative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1 / (2 *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D_0) ≈ 1 / (2 * 3.1416 * 18.64) ≈ 1 / 117.1 ≈ 0.00854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получить σ в пикселях,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необходимо умножить относительное значение на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наименьшую сторону изображения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(в данном случае M = 375), чтобы ядро адекватно покрывало изображение: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sigma_pixels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sigma_relative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(M, N) = 0.00854 * 375 ≈ 3.20 пикселя.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Части 2: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реализации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эквивалентного размытия в пространственной области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изображении размером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375x500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пикселей с помощью функции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imgaussfilt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необходимо использовать параметр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sigma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3.20.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8B6FF-9FFD-451B-B88C-EC65526947D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021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4C98F-8C17-4C81-A74C-E349176E9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884F70-8434-4173-9A8A-2D8418BAD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0B2998-33A6-4833-801B-673CD371B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70753D-11A9-44F1-9CF8-BB22E078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428467-981D-4CB4-82CD-7E21385E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13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A6EF5-13D6-40DE-8AA5-5F5939C0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A37543-B61F-4000-9491-0745F8C92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247F80-6A7C-47DE-ADCD-372E3FEA7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0627B5-96A0-40E5-997F-2D162641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151959-CC15-4FB8-8D7A-26FB3F88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6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2811B2-23AA-4FB6-91EF-E8DDE238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C7904A-AF4E-4000-ADF1-7F7582ED8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E9A4DF-2607-4B6B-AD48-F60BC4E87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34F4EC-2066-4A0D-8F39-48526E713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75AC4-7358-4A63-A6D2-EEA26CA0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471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5290E-3801-4E58-BB02-96D6809AB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F24A93-4C93-42E0-8723-D42DACA6B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D4B3D6-3844-45B1-8393-5A33FB604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79847E-9AB8-4744-9C53-9BB8B9848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A3BA47-85D9-40B9-9E70-2B00E0AAA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06A5C2-651D-494B-A62C-4F325AB3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47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50C546-D800-42A2-B9E2-19B56F10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E41B1A-4BA4-4415-B7B8-065CC6DB4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331F35-288D-4FE6-999A-587672E6E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278F4A-0DB4-4924-A75F-0672A4F16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E9472AA-7547-49D4-9A15-E6CC62D3A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8D5C30-1290-47A3-A252-D05DE999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CB4A8-793F-4C80-857D-DBDBCAE2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D5C0AD-41D6-4A75-87AA-C94B0B89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59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7AF0A-3241-40C4-930A-17783B66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1704F4E-5D77-4AA7-BFA3-C2ED477A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05F61A-6A4E-41EA-A07C-BC06EC1C0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ED3A95-90D0-4741-8AA7-45B2748E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95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9F5C745-FD2F-4EDF-BAF2-F19725304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000795-E9B0-471A-992A-632AFA62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9F35A1-12CC-4418-9B2D-61D4AA0FC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282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5EB83-974A-43EF-A02D-D1255E50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72F007-C09F-40E7-8E3E-7B326096B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26D89D-245D-48A6-A26D-B7EA6B0E9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673857-50D2-4781-AD0F-3AC631A9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63F111-647B-490A-8AD2-5069EE43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64CDF0-C327-4F2A-B8D9-E56606709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937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864BF-70F5-428D-9BF1-39428F50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AAC0D15-C628-4444-AEED-2B4AFBB32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894009-F582-4844-8C2F-566B6545B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078154-ABCA-42AC-AAEB-3C5EF627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7DC79B-106B-4437-BEEE-40E35413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D89E3E-4EFE-4B45-BE78-58B62C34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27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D7349-07A1-4A9A-B6BC-F18BD816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448D59-DDCC-4A22-A2D2-0AC0BC11B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02AB51-778E-4929-9777-C8109AD9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CE3604-0532-41C6-87AD-5BA6B98F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60F87-0A75-46A4-8816-330B66B7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649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7B04CE-8500-40C8-A983-24E95FB00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5D5F80-DD47-41F8-9D99-3A0BB1D6A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83F5AB-DC2D-4B92-AB75-40CE12DF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247165-2C1F-473F-B911-C7960D30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30083D-DB48-43AD-80C3-46A6CFF3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61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07759-D112-460C-A440-3AFB49DB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840ED4-5E6F-4230-93CB-17FA8D604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521200-818F-40ED-9D11-CA508AD6F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839AF-606E-46DF-97E1-EDF257A5D544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B0848A-0A6D-43C8-9825-4A0251A04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A19AD7-5E53-4FDC-86B8-19B86E368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B3B3B-DD1F-491F-9CCD-B390BDDF2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254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7" Type="http://schemas.openxmlformats.org/officeDocument/2006/relationships/image" Target="../media/image51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7" Type="http://schemas.openxmlformats.org/officeDocument/2006/relationships/image" Target="../media/image55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8EDF8D-1C24-4DFC-9B77-6FB3F562C8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Фильтрация в частотной области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D87159-0F17-4751-AC7F-B0DE9A7D2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Никитин Андрей Александрович</a:t>
            </a:r>
          </a:p>
        </p:txBody>
      </p:sp>
    </p:spTree>
    <p:extLst>
      <p:ext uri="{BB962C8B-B14F-4D97-AF65-F5344CB8AC3E}">
        <p14:creationId xmlns:p14="http://schemas.microsoft.com/office/powerpoint/2010/main" val="3563406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D79EA-5A9B-48B9-9350-DF0A639B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лекции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D90627-F335-4AE8-A69C-CD7CFA33F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Мотивация:</a:t>
            </a:r>
            <a:r>
              <a:rPr lang="ru-RU" dirty="0"/>
              <a:t> Зачем нужна частотная область?</a:t>
            </a:r>
          </a:p>
          <a:p>
            <a:r>
              <a:rPr lang="ru-RU" b="1" dirty="0"/>
              <a:t>Теория:</a:t>
            </a:r>
            <a:r>
              <a:rPr lang="ru-RU" dirty="0"/>
              <a:t> 2D Дискретное Преобразование Фурье (ДПФ), спектр и фаза.</a:t>
            </a:r>
          </a:p>
          <a:p>
            <a:r>
              <a:rPr lang="ru-RU" b="1" dirty="0"/>
              <a:t>Свойства ДПФ:</a:t>
            </a:r>
            <a:r>
              <a:rPr lang="ru-RU" dirty="0"/>
              <a:t> Симметрия, важность фазы.</a:t>
            </a:r>
          </a:p>
          <a:p>
            <a:r>
              <a:rPr lang="ru-RU" b="1" dirty="0"/>
              <a:t>Общая схема частотной фильтрации.</a:t>
            </a:r>
            <a:endParaRPr lang="ru-RU" dirty="0"/>
          </a:p>
          <a:p>
            <a:r>
              <a:rPr lang="ru-RU" b="1" dirty="0"/>
              <a:t>Фильтры низких частот (ФНЧ):</a:t>
            </a:r>
            <a:r>
              <a:rPr lang="ru-RU" dirty="0"/>
              <a:t> Идеальный, </a:t>
            </a:r>
            <a:r>
              <a:rPr lang="ru-RU" dirty="0" err="1"/>
              <a:t>Баттерворта</a:t>
            </a:r>
            <a:r>
              <a:rPr lang="ru-RU" dirty="0"/>
              <a:t>, Гаусса.</a:t>
            </a:r>
          </a:p>
          <a:p>
            <a:r>
              <a:rPr lang="ru-RU" b="1" dirty="0"/>
              <a:t>Практикум:</a:t>
            </a:r>
            <a:r>
              <a:rPr lang="ru-RU" dirty="0"/>
              <a:t> Решение задач.</a:t>
            </a:r>
          </a:p>
          <a:p>
            <a:r>
              <a:rPr lang="ru-RU" b="1" dirty="0"/>
              <a:t>Вывод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72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04822-475B-4EE0-BAF8-CCAC0A07E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Пространственная </a:t>
            </a:r>
            <a:r>
              <a:rPr lang="en-US" b="1" dirty="0"/>
              <a:t>vs. </a:t>
            </a:r>
            <a:r>
              <a:rPr lang="ru-RU" b="1" dirty="0"/>
              <a:t>Частотная область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499912-9A8C-4309-BCBB-C36511F02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Пространственная область:</a:t>
            </a:r>
            <a:r>
              <a:rPr lang="ru-RU" dirty="0"/>
              <a:t> Операции над пикселями (яркость, контраст, конволюция). Легко визуализировать.</a:t>
            </a:r>
          </a:p>
          <a:p>
            <a:r>
              <a:rPr lang="ru-RU" b="1" dirty="0"/>
              <a:t>Частотная область:</a:t>
            </a:r>
            <a:r>
              <a:rPr lang="ru-RU" dirty="0"/>
              <a:t> Изображение представлено как сумма синусоид разной частоты, амплитуды и направления.</a:t>
            </a:r>
          </a:p>
          <a:p>
            <a:pPr lvl="1"/>
            <a:r>
              <a:rPr lang="ru-RU" i="1" dirty="0"/>
              <a:t>Низкие частоты:</a:t>
            </a:r>
            <a:r>
              <a:rPr lang="ru-RU" dirty="0"/>
              <a:t> Плавные изменения яркости (фон, крупные объекты).</a:t>
            </a:r>
          </a:p>
          <a:p>
            <a:pPr lvl="1"/>
            <a:r>
              <a:rPr lang="ru-RU" i="1" dirty="0"/>
              <a:t>Высокие частоты:</a:t>
            </a:r>
            <a:r>
              <a:rPr lang="ru-RU" dirty="0"/>
              <a:t> Резкие перепады яркости (контуры, текстура, шум).</a:t>
            </a:r>
          </a:p>
          <a:p>
            <a:r>
              <a:rPr lang="ru-RU" b="1" dirty="0"/>
              <a:t>Зачем?</a:t>
            </a:r>
            <a:r>
              <a:rPr lang="ru-RU" dirty="0"/>
              <a:t> Многие задачи проще и эффективнее решаются в частотной области: фильтрация, анализ текстур, сжатие, сопоставление шаблонов.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48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B24C9-49DD-4638-952E-664F3D32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Двумерное дискретное преобразование Фурье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7E72490-A589-48D5-96C8-A14CBA9AC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5520" y="2399803"/>
            <a:ext cx="5100958" cy="1052072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2901A2-C0DE-4F8E-AA08-51F0D737F9D3}"/>
              </a:ext>
            </a:extLst>
          </p:cNvPr>
          <p:cNvSpPr/>
          <p:nvPr/>
        </p:nvSpPr>
        <p:spPr>
          <a:xfrm>
            <a:off x="838200" y="1514449"/>
            <a:ext cx="98843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Newton-Regular"/>
              </a:rPr>
              <a:t>Двумерное </a:t>
            </a:r>
            <a:r>
              <a:rPr lang="ru-RU" sz="2400" i="1" dirty="0">
                <a:latin typeface="Newton-Italic"/>
              </a:rPr>
              <a:t>дискретное преобразование Фурье </a:t>
            </a:r>
            <a:r>
              <a:rPr lang="ru-RU" sz="2400" dirty="0">
                <a:latin typeface="Newton-Regular"/>
              </a:rPr>
              <a:t>(ДПФ)</a:t>
            </a:r>
            <a:r>
              <a:rPr lang="ru-RU" sz="2400" dirty="0"/>
              <a:t>,</a:t>
            </a:r>
          </a:p>
          <a:p>
            <a:r>
              <a:rPr lang="ru-RU" sz="2400" dirty="0"/>
              <a:t>где </a:t>
            </a:r>
            <a:r>
              <a:rPr lang="ru-RU" sz="2400" i="1" dirty="0"/>
              <a:t>f</a:t>
            </a:r>
            <a:r>
              <a:rPr lang="ru-RU" sz="2400" dirty="0"/>
              <a:t>(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) — цифровое изображение размерами </a:t>
            </a:r>
            <a:r>
              <a:rPr lang="ru-RU" sz="2400" i="1" dirty="0"/>
              <a:t>M</a:t>
            </a:r>
            <a:r>
              <a:rPr lang="ru-RU" sz="2400" dirty="0"/>
              <a:t>.</a:t>
            </a:r>
            <a:r>
              <a:rPr lang="ru-RU" sz="2400" i="1" dirty="0"/>
              <a:t>N</a:t>
            </a:r>
            <a:r>
              <a:rPr lang="ru-RU" sz="2400" dirty="0"/>
              <a:t>.</a:t>
            </a:r>
            <a:r>
              <a:rPr lang="ru-RU" sz="2400" dirty="0">
                <a:latin typeface="Newton-Regular"/>
              </a:rPr>
              <a:t>:</a:t>
            </a:r>
            <a:endParaRPr lang="ru-RU" sz="2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65FC1D-92C2-4A04-ADA1-29A0175FC4C8}"/>
              </a:ext>
            </a:extLst>
          </p:cNvPr>
          <p:cNvSpPr/>
          <p:nvPr/>
        </p:nvSpPr>
        <p:spPr>
          <a:xfrm>
            <a:off x="838199" y="3506233"/>
            <a:ext cx="9884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>
                <a:latin typeface="Newton-Italic"/>
              </a:rPr>
              <a:t>Обратное дискретное преобразование Фурье </a:t>
            </a:r>
            <a:r>
              <a:rPr lang="ru-RU" sz="2400" dirty="0">
                <a:latin typeface="Newton-Regular"/>
              </a:rPr>
              <a:t>(обратное ДПФ)</a:t>
            </a:r>
            <a:endParaRPr lang="ru-RU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2BDEBF6-0E98-47DD-A39B-113CA23E5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779" y="3961738"/>
            <a:ext cx="5236441" cy="101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44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FE4AE-28F8-4447-B59A-67AE222D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Свойства двумерного дискретного преобразования Фурье</a:t>
            </a: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06DF2258-A8EA-4880-8FD2-8A9B98C12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40510"/>
              </p:ext>
            </p:extLst>
          </p:nvPr>
        </p:nvGraphicFramePr>
        <p:xfrm>
          <a:off x="838200" y="1600160"/>
          <a:ext cx="10137140" cy="462526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1051887025"/>
                    </a:ext>
                  </a:extLst>
                </a:gridCol>
                <a:gridCol w="7348220">
                  <a:extLst>
                    <a:ext uri="{9D8B030D-6E8A-4147-A177-3AD203B41FA5}">
                      <a16:colId xmlns:a16="http://schemas.microsoft.com/office/drawing/2014/main" val="3808288514"/>
                    </a:ext>
                  </a:extLst>
                </a:gridCol>
              </a:tblGrid>
              <a:tr h="1165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0" u="sng" dirty="0"/>
                        <a:t>Сдвиг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92598"/>
                  </a:ext>
                </a:extLst>
              </a:tr>
              <a:tr h="1242060">
                <a:tc>
                  <a:txBody>
                    <a:bodyPr/>
                    <a:lstStyle/>
                    <a:p>
                      <a:r>
                        <a:rPr lang="ru-RU" b="0" i="0" u="sng" dirty="0"/>
                        <a:t>Поворот (переход к полярным координатам)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2164"/>
                  </a:ext>
                </a:extLst>
              </a:tr>
              <a:tr h="10285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0" u="sng" dirty="0"/>
                        <a:t>Периодичность</a:t>
                      </a:r>
                    </a:p>
                    <a:p>
                      <a:endParaRPr lang="ru-RU" b="0" i="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7820"/>
                  </a:ext>
                </a:extLst>
              </a:tr>
              <a:tr h="595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1" u="sng" dirty="0"/>
                        <a:t>Сдвиг данных так,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1" u="sng" dirty="0"/>
                        <a:t>чтобы F(0, 0) оказалась в точке (M/2, N/2).</a:t>
                      </a:r>
                    </a:p>
                    <a:p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978974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2740BF4-CF52-4445-B74B-6E9BCDF09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34" y="1736746"/>
            <a:ext cx="4223546" cy="9937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A0F62A-86D8-448D-A7E0-35D708CBA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727" y="2776579"/>
            <a:ext cx="4867817" cy="5884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37E8999-1A67-4584-BB76-04D1960BB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705" y="3329583"/>
            <a:ext cx="3179862" cy="63597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21C2F1D-7C72-4080-8D27-7A349A66F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065380"/>
            <a:ext cx="5311830" cy="91091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FA922A6-922E-47C7-A71C-DC7A0140A5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6840" y="5324070"/>
            <a:ext cx="4153590" cy="51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40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54D5B-D130-49C8-8F72-4062BDA8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Свойства симметрии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D0BCCF-E215-4DFD-BC61-9A96DE6EA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Важный результат из функционального анализа состоит в том, что любая действительная </a:t>
            </a:r>
            <a:r>
              <a:rPr lang="ru-RU" sz="2000" i="1" dirty="0"/>
              <a:t>или </a:t>
            </a:r>
            <a:r>
              <a:rPr lang="ru-RU" sz="2000" dirty="0"/>
              <a:t>комплексная функция </a:t>
            </a:r>
            <a:r>
              <a:rPr lang="ru-RU" sz="2000" i="1" dirty="0"/>
              <a:t>w</a:t>
            </a:r>
            <a:r>
              <a:rPr lang="ru-RU" sz="2000" dirty="0"/>
              <a:t>(</a:t>
            </a:r>
            <a:r>
              <a:rPr lang="ru-RU" sz="2000" i="1" dirty="0"/>
              <a:t>x</a:t>
            </a:r>
            <a:r>
              <a:rPr lang="ru-RU" sz="2000" dirty="0"/>
              <a:t>, </a:t>
            </a:r>
            <a:r>
              <a:rPr lang="ru-RU" sz="2000" i="1" dirty="0"/>
              <a:t>y</a:t>
            </a:r>
            <a:r>
              <a:rPr lang="ru-RU" sz="2000" dirty="0"/>
              <a:t>) может быть выражена суммой четных и нечетных частей: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28E7F2-C726-4312-B020-6225C6C9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228" y="2662884"/>
            <a:ext cx="3571543" cy="6311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10EA09-D4A3-45DB-9608-4B3915C8B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661" y="3294063"/>
            <a:ext cx="4102676" cy="1362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FE9F26-3D80-4F0E-A777-79C1C515BA48}"/>
              </a:ext>
            </a:extLst>
          </p:cNvPr>
          <p:cNvSpPr txBox="1"/>
          <p:nvPr/>
        </p:nvSpPr>
        <p:spPr>
          <a:xfrm>
            <a:off x="2471768" y="3370352"/>
            <a:ext cx="170130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ru-RU" sz="2800" dirty="0"/>
              <a:t>Чётная:</a:t>
            </a:r>
          </a:p>
          <a:p>
            <a:r>
              <a:rPr lang="ru-RU" sz="2800" dirty="0"/>
              <a:t>Нечётная: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8267D1-6D33-4645-B8A1-180CBF885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166" y="4923408"/>
            <a:ext cx="3601171" cy="9623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FE0804-A8F6-41C9-9286-A133911D52A2}"/>
              </a:ext>
            </a:extLst>
          </p:cNvPr>
          <p:cNvSpPr txBox="1"/>
          <p:nvPr/>
        </p:nvSpPr>
        <p:spPr>
          <a:xfrm>
            <a:off x="1384042" y="5134858"/>
            <a:ext cx="2926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Главное свойство:</a:t>
            </a:r>
          </a:p>
        </p:txBody>
      </p:sp>
    </p:spTree>
    <p:extLst>
      <p:ext uri="{BB962C8B-B14F-4D97-AF65-F5344CB8AC3E}">
        <p14:creationId xmlns:p14="http://schemas.microsoft.com/office/powerpoint/2010/main" val="370328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7B2DB1FD-0622-471E-A50A-A5971AD65B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848485"/>
              </p:ext>
            </p:extLst>
          </p:nvPr>
        </p:nvGraphicFramePr>
        <p:xfrm>
          <a:off x="774700" y="1280477"/>
          <a:ext cx="10515600" cy="5211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464131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73361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Пространственная область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Частотная область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55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1)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действительная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 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*(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=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91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2)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мнимая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 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*(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= 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57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3)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действительная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R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четная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I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нечетная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72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4)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мнимая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R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нечетная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I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четная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367117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5)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действительная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 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*(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комплексная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961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6)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комплексная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комплексная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68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7)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 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*(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комплексная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 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*(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–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комплексная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300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8)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действительная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четная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действительная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четная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9)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действительная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нечетная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мнимая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нечетная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09495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10)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мнимая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четная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мнимая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четная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1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11)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мнимая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нечетная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действительная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нечетная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786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12)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комплексная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четная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комплексная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четная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517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13)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x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y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комплексная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нечетная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F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(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u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, </a:t>
                      </a:r>
                      <a:r>
                        <a:rPr lang="ru-RU" sz="1800" i="1" dirty="0">
                          <a:effectLst/>
                          <a:latin typeface="Newton-Italic"/>
                          <a:ea typeface="Calibri" panose="020F0502020204030204" pitchFamily="34" charset="0"/>
                          <a:cs typeface="Newton-Italic"/>
                        </a:rPr>
                        <a:t>v</a:t>
                      </a:r>
                      <a:r>
                        <a:rPr lang="ru-RU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комплексная</a:t>
                      </a:r>
                      <a:r>
                        <a:rPr lang="en-US" sz="1800" dirty="0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 и </a:t>
                      </a:r>
                      <a:r>
                        <a:rPr lang="en-US" sz="1800" dirty="0" err="1">
                          <a:effectLst/>
                          <a:latin typeface="Newton-Regular"/>
                          <a:ea typeface="Calibri" panose="020F0502020204030204" pitchFamily="34" charset="0"/>
                          <a:cs typeface="Newton-Regular"/>
                        </a:rPr>
                        <a:t>нечетная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62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685DAF-F2AB-4DD8-AAE0-06EE2DAB5431}"/>
              </a:ext>
            </a:extLst>
          </p:cNvPr>
          <p:cNvSpPr/>
          <p:nvPr/>
        </p:nvSpPr>
        <p:spPr>
          <a:xfrm>
            <a:off x="774700" y="518636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Newton-Regular"/>
              </a:rPr>
              <a:t>Некоторые свойства симметрии прямого и обратного ДПФ. </a:t>
            </a:r>
            <a:r>
              <a:rPr lang="ru-RU" sz="2000" i="1" dirty="0">
                <a:latin typeface="Newton-Italic"/>
              </a:rPr>
              <a:t>R</a:t>
            </a:r>
            <a:r>
              <a:rPr lang="ru-RU" sz="2000" dirty="0">
                <a:latin typeface="Newton-Regular"/>
              </a:rPr>
              <a:t>(</a:t>
            </a:r>
            <a:r>
              <a:rPr lang="ru-RU" sz="2000" i="1" dirty="0">
                <a:latin typeface="Newton-Italic"/>
              </a:rPr>
              <a:t>u</a:t>
            </a:r>
            <a:r>
              <a:rPr lang="ru-RU" sz="2000" dirty="0">
                <a:latin typeface="Newton-Regular"/>
              </a:rPr>
              <a:t>, </a:t>
            </a:r>
            <a:r>
              <a:rPr lang="ru-RU" sz="2000" i="1" dirty="0">
                <a:latin typeface="Newton-Italic"/>
              </a:rPr>
              <a:t>v</a:t>
            </a:r>
            <a:r>
              <a:rPr lang="ru-RU" sz="2000" dirty="0">
                <a:latin typeface="Newton-Regular"/>
              </a:rPr>
              <a:t>)</a:t>
            </a:r>
            <a:r>
              <a:rPr lang="en-US" sz="2000" dirty="0">
                <a:latin typeface="Newton-Regular"/>
              </a:rPr>
              <a:t> </a:t>
            </a:r>
            <a:r>
              <a:rPr lang="ru-RU" sz="2000" dirty="0">
                <a:latin typeface="Newton-Regular"/>
              </a:rPr>
              <a:t>и </a:t>
            </a:r>
            <a:r>
              <a:rPr lang="ru-RU" sz="2000" i="1" dirty="0">
                <a:latin typeface="Newton-Italic"/>
              </a:rPr>
              <a:t>I</a:t>
            </a:r>
            <a:r>
              <a:rPr lang="ru-RU" sz="2000" dirty="0">
                <a:latin typeface="Newton-Regular"/>
              </a:rPr>
              <a:t>(</a:t>
            </a:r>
            <a:r>
              <a:rPr lang="ru-RU" sz="2000" i="1" dirty="0">
                <a:latin typeface="Newton-Italic"/>
              </a:rPr>
              <a:t>u</a:t>
            </a:r>
            <a:r>
              <a:rPr lang="ru-RU" sz="2000" dirty="0">
                <a:latin typeface="Newton-Regular"/>
              </a:rPr>
              <a:t>, </a:t>
            </a:r>
            <a:r>
              <a:rPr lang="ru-RU" sz="2000" i="1" dirty="0">
                <a:latin typeface="Newton-Italic"/>
              </a:rPr>
              <a:t>v</a:t>
            </a:r>
            <a:r>
              <a:rPr lang="ru-RU" sz="2000" dirty="0">
                <a:latin typeface="Newton-Regular"/>
              </a:rPr>
              <a:t>) являются действительной и мнимой частями </a:t>
            </a:r>
            <a:r>
              <a:rPr lang="ru-RU" sz="2000" i="1" dirty="0">
                <a:latin typeface="Newton-Italic"/>
              </a:rPr>
              <a:t>F</a:t>
            </a:r>
            <a:r>
              <a:rPr lang="ru-RU" sz="2000" dirty="0">
                <a:latin typeface="Newton-Regular"/>
              </a:rPr>
              <a:t>(</a:t>
            </a:r>
            <a:r>
              <a:rPr lang="ru-RU" sz="2000" i="1" dirty="0">
                <a:latin typeface="Newton-Italic"/>
              </a:rPr>
              <a:t>u</a:t>
            </a:r>
            <a:r>
              <a:rPr lang="ru-RU" sz="2000" dirty="0">
                <a:latin typeface="Newton-Regular"/>
              </a:rPr>
              <a:t>, </a:t>
            </a:r>
            <a:r>
              <a:rPr lang="ru-RU" sz="2000" i="1" dirty="0">
                <a:latin typeface="Newton-Italic"/>
              </a:rPr>
              <a:t>v</a:t>
            </a:r>
            <a:r>
              <a:rPr lang="ru-RU" sz="2000" dirty="0">
                <a:latin typeface="Newton-Regular"/>
              </a:rPr>
              <a:t>) соответственно.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2482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ADBAD-ECB0-4D34-9035-5F809665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Одномерная иллюстрация свойств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E5B4D1E-E663-4D1B-BB8B-FCE505DCFA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7863343"/>
              </p:ext>
            </p:extLst>
          </p:nvPr>
        </p:nvGraphicFramePr>
        <p:xfrm>
          <a:off x="838200" y="1690688"/>
          <a:ext cx="10032999" cy="4379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997">
                  <a:extLst>
                    <a:ext uri="{9D8B030D-6E8A-4147-A177-3AD203B41FA5}">
                      <a16:colId xmlns:a16="http://schemas.microsoft.com/office/drawing/2014/main" val="401304961"/>
                    </a:ext>
                  </a:extLst>
                </a:gridCol>
                <a:gridCol w="3795687">
                  <a:extLst>
                    <a:ext uri="{9D8B030D-6E8A-4147-A177-3AD203B41FA5}">
                      <a16:colId xmlns:a16="http://schemas.microsoft.com/office/drawing/2014/main" val="945488470"/>
                    </a:ext>
                  </a:extLst>
                </a:gridCol>
                <a:gridCol w="5063315">
                  <a:extLst>
                    <a:ext uri="{9D8B030D-6E8A-4147-A177-3AD203B41FA5}">
                      <a16:colId xmlns:a16="http://schemas.microsoft.com/office/drawing/2014/main" val="2586711438"/>
                    </a:ext>
                  </a:extLst>
                </a:gridCol>
              </a:tblGrid>
              <a:tr h="5773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Номер свойства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f(x)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2387997"/>
                  </a:ext>
                </a:extLst>
              </a:tr>
              <a:tr h="375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{1 2 3 4}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{(10)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2 + 2i)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2)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2 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 2i)}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0462536"/>
                  </a:ext>
                </a:extLst>
              </a:tr>
              <a:tr h="375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i{1 2 3 4}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{(2,5i) (0,5 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 0,5i)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0,5i)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0,5 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 0,5i)}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765564"/>
                  </a:ext>
                </a:extLst>
              </a:tr>
              <a:tr h="3797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{2 1 1 1}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{(5) (1) (1) (1)}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5706475"/>
                  </a:ext>
                </a:extLst>
              </a:tr>
              <a:tr h="375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{0 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1 0 1}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{(0) (2i) (0)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2i)}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329217"/>
                  </a:ext>
                </a:extLst>
              </a:tr>
              <a:tr h="375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i{2 1 1 1}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{(5i) (i) (i) (i)}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254382"/>
                  </a:ext>
                </a:extLst>
              </a:tr>
              <a:tr h="3753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i{0 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1 0 1}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{(0)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2) (0) (2)}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6416900"/>
                  </a:ext>
                </a:extLst>
              </a:tr>
              <a:tr h="7729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{(4 + 4i) (3 + 2i) (0 + 2i) (3 + 2i)}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{(10 + 10i) (4 + 2i)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2 + 2i) (4 + 2i)}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2430184"/>
                  </a:ext>
                </a:extLst>
              </a:tr>
              <a:tr h="7729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{(0 + 0i) (1 + 1i) (0 + 0i)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1 </a:t>
                      </a:r>
                      <a:r>
                        <a:rPr lang="en-US" sz="1800" dirty="0">
                          <a:effectLst/>
                        </a:rPr>
                        <a:t>– </a:t>
                      </a:r>
                      <a:r>
                        <a:rPr lang="ru-RU" sz="1800" dirty="0">
                          <a:effectLst/>
                        </a:rPr>
                        <a:t>i)}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{(0 + 0i) (2 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 2i) (0 + 0i) (</a:t>
                      </a:r>
                      <a:r>
                        <a:rPr lang="en-US" sz="1800" dirty="0">
                          <a:effectLst/>
                        </a:rPr>
                        <a:t>–</a:t>
                      </a:r>
                      <a:r>
                        <a:rPr lang="ru-RU" sz="1800" dirty="0">
                          <a:effectLst/>
                        </a:rPr>
                        <a:t>2 + 1i)}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8652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34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5A8CA-BEB5-430A-949C-D2C7E5B4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Фурье-спектр и фаза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AA81188-4D55-4B5A-9C4B-4519D52AF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1639" y="2149209"/>
            <a:ext cx="2828721" cy="63502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6A19DF2-0021-4010-8F40-B5966E0D3478}"/>
              </a:ext>
            </a:extLst>
          </p:cNvPr>
          <p:cNvSpPr/>
          <p:nvPr/>
        </p:nvSpPr>
        <p:spPr>
          <a:xfrm>
            <a:off x="838200" y="1573105"/>
            <a:ext cx="2427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Newton-Regular"/>
              </a:rPr>
              <a:t>Двумерное ДПФ:</a:t>
            </a:r>
            <a:endParaRPr lang="ru-RU" sz="2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712001D-1F69-4A20-A1A0-4EF6B881C5A4}"/>
              </a:ext>
            </a:extLst>
          </p:cNvPr>
          <p:cNvSpPr/>
          <p:nvPr/>
        </p:nvSpPr>
        <p:spPr>
          <a:xfrm>
            <a:off x="838200" y="2898668"/>
            <a:ext cx="56124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i="1" dirty="0">
                <a:latin typeface="Newton-Italic"/>
              </a:rPr>
              <a:t>Фурье</a:t>
            </a:r>
            <a:r>
              <a:rPr lang="ru-RU" sz="2400" dirty="0">
                <a:latin typeface="Newton-Regular"/>
              </a:rPr>
              <a:t>-</a:t>
            </a:r>
            <a:r>
              <a:rPr lang="ru-RU" sz="2400" i="1" dirty="0">
                <a:latin typeface="Newton-Italic"/>
              </a:rPr>
              <a:t>спектр </a:t>
            </a:r>
            <a:r>
              <a:rPr lang="ru-RU" sz="2400" dirty="0">
                <a:latin typeface="Newton-Regular"/>
              </a:rPr>
              <a:t>(или </a:t>
            </a:r>
            <a:r>
              <a:rPr lang="ru-RU" sz="2400" i="1" dirty="0">
                <a:latin typeface="Newton-Italic"/>
              </a:rPr>
              <a:t>частотный спектр</a:t>
            </a:r>
            <a:r>
              <a:rPr lang="ru-RU" sz="2400" dirty="0">
                <a:latin typeface="Newton-Regular"/>
              </a:rPr>
              <a:t>):</a:t>
            </a:r>
            <a:endParaRPr lang="ru-RU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302C72-868F-4C11-BA79-27A4F7E2F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25" y="3525057"/>
            <a:ext cx="3206750" cy="496283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0A137B-0E9A-4F26-9C57-CC59857731AA}"/>
              </a:ext>
            </a:extLst>
          </p:cNvPr>
          <p:cNvSpPr/>
          <p:nvPr/>
        </p:nvSpPr>
        <p:spPr>
          <a:xfrm>
            <a:off x="838200" y="4076248"/>
            <a:ext cx="4414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i="1" dirty="0">
                <a:latin typeface="Newton-Italic"/>
              </a:rPr>
              <a:t>Фазовый угол </a:t>
            </a:r>
            <a:r>
              <a:rPr lang="ru-RU" sz="2400" dirty="0">
                <a:latin typeface="Newton-Regular"/>
              </a:rPr>
              <a:t>или просто </a:t>
            </a:r>
            <a:r>
              <a:rPr lang="ru-RU" sz="2400" i="1" dirty="0">
                <a:latin typeface="Newton-Italic"/>
              </a:rPr>
              <a:t>фаза: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1AB3A8-1B89-421B-9BF5-7851E1E1C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430" y="4605923"/>
            <a:ext cx="2517140" cy="80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06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E9052-E09B-44E6-B02F-DEDA0792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Фурье-спектр и фаза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B21A1F1-A34D-4FE3-B254-BA5B75A87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5997" y="1644650"/>
            <a:ext cx="1440000" cy="144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7FE533-C2EF-433B-8470-D15BBC04C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997" y="3233234"/>
            <a:ext cx="1440000" cy="144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CC14C8-E965-4D1E-97C1-0725132C2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602" y="1644650"/>
            <a:ext cx="1440000" cy="144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E56EEB-A62F-46B8-8741-46C92C559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097" y="3233234"/>
            <a:ext cx="1440000" cy="144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B15018-5A70-4F74-9836-9489EFAD7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2197" y="1644650"/>
            <a:ext cx="1440000" cy="144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6DAFA27-63BF-4F5B-AAD6-DD24D6E7E2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2197" y="3233234"/>
            <a:ext cx="1440000" cy="144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1949E4-0519-4DC3-BEAE-6B5D783470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5997" y="4821818"/>
            <a:ext cx="1452743" cy="144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AAB9D4B-4253-4D5E-BA48-E88149DAFE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1354" y="4843036"/>
            <a:ext cx="1452743" cy="1440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3843D99-3E98-412D-8EF1-CA0296BFFC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1544" y="4843036"/>
            <a:ext cx="1452743" cy="144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F3324D-ED5D-4550-8056-D78821C65D25}"/>
              </a:ext>
            </a:extLst>
          </p:cNvPr>
          <p:cNvSpPr txBox="1"/>
          <p:nvPr/>
        </p:nvSpPr>
        <p:spPr>
          <a:xfrm>
            <a:off x="838200" y="2007790"/>
            <a:ext cx="3946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Исходные изображения: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004897-A9D2-4AE0-BA8E-C47A958D8ADB}"/>
              </a:ext>
            </a:extLst>
          </p:cNvPr>
          <p:cNvSpPr txBox="1"/>
          <p:nvPr/>
        </p:nvSpPr>
        <p:spPr>
          <a:xfrm>
            <a:off x="838200" y="3596374"/>
            <a:ext cx="4520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Фурье-спектр изображений: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45FD44D-8276-48DF-9D8F-FBBB72064B4F}"/>
              </a:ext>
            </a:extLst>
          </p:cNvPr>
          <p:cNvSpPr/>
          <p:nvPr/>
        </p:nvSpPr>
        <p:spPr>
          <a:xfrm>
            <a:off x="865611" y="5206176"/>
            <a:ext cx="4465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Newton-Regular"/>
              </a:rPr>
              <a:t>Массивы фаз изображений: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60160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D98A1-AB73-4374-8556-B2010F65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Важность фазы для восстановления изображения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9F4F322-034F-48B9-8B9D-20B7BDD24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3238"/>
            <a:ext cx="1912690" cy="189591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9B349D-A26A-4AFD-92F5-1307EBC2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83" y="1773238"/>
            <a:ext cx="1912690" cy="189591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7F170E-3A5A-491A-8764-C4D71E060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37207"/>
            <a:ext cx="1912690" cy="18959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EB5DCD-8A3A-4B9F-83AB-C4BA41962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383" y="3837207"/>
            <a:ext cx="1912690" cy="189591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F16D02-ED26-40ED-92F6-80FEBAA310F4}"/>
              </a:ext>
            </a:extLst>
          </p:cNvPr>
          <p:cNvSpPr/>
          <p:nvPr/>
        </p:nvSpPr>
        <p:spPr>
          <a:xfrm>
            <a:off x="6731000" y="2721194"/>
            <a:ext cx="4140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Newton-Regular"/>
              </a:rPr>
              <a:t>(</a:t>
            </a:r>
            <a:r>
              <a:rPr lang="ru-RU" sz="2400" i="1" dirty="0">
                <a:latin typeface="Newton-Italic"/>
              </a:rPr>
              <a:t>а</a:t>
            </a:r>
            <a:r>
              <a:rPr lang="ru-RU" sz="2400" dirty="0">
                <a:latin typeface="Newton-Regular"/>
              </a:rPr>
              <a:t>) Портрет женщины. </a:t>
            </a:r>
          </a:p>
          <a:p>
            <a:r>
              <a:rPr lang="ru-RU" sz="2400" dirty="0">
                <a:latin typeface="Newton-Regular"/>
              </a:rPr>
              <a:t>(</a:t>
            </a:r>
            <a:r>
              <a:rPr lang="ru-RU" sz="2400" i="1" dirty="0">
                <a:latin typeface="Newton-Italic"/>
              </a:rPr>
              <a:t>б</a:t>
            </a:r>
            <a:r>
              <a:rPr lang="ru-RU" sz="2400" dirty="0">
                <a:latin typeface="Newton-Regular"/>
              </a:rPr>
              <a:t>) Фаза. </a:t>
            </a:r>
          </a:p>
          <a:p>
            <a:r>
              <a:rPr lang="ru-RU" sz="2400" dirty="0">
                <a:latin typeface="Newton-Regular"/>
              </a:rPr>
              <a:t>(</a:t>
            </a:r>
            <a:r>
              <a:rPr lang="ru-RU" sz="2400" i="1" dirty="0">
                <a:latin typeface="Newton-Italic"/>
              </a:rPr>
              <a:t>в</a:t>
            </a:r>
            <a:r>
              <a:rPr lang="ru-RU" sz="2400" dirty="0">
                <a:latin typeface="Newton-Regular"/>
              </a:rPr>
              <a:t>) Портрет, восстановленный при использовании только фазы. </a:t>
            </a:r>
          </a:p>
          <a:p>
            <a:r>
              <a:rPr lang="ru-RU" sz="2400" dirty="0">
                <a:latin typeface="Newton-Regular"/>
              </a:rPr>
              <a:t>(</a:t>
            </a:r>
            <a:r>
              <a:rPr lang="ru-RU" sz="2400" i="1" dirty="0">
                <a:latin typeface="Newton-Italic"/>
              </a:rPr>
              <a:t>г</a:t>
            </a:r>
            <a:r>
              <a:rPr lang="ru-RU" sz="2400" dirty="0">
                <a:latin typeface="Newton-Regular"/>
              </a:rPr>
              <a:t>) Портрет, восстановленный при использовании только Фурье-спектра.</a:t>
            </a:r>
            <a:endParaRPr lang="ru-RU" sz="2400" dirty="0"/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15B562F2-8C1A-4115-A3C7-7B12E3EFA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751112"/>
              </p:ext>
            </p:extLst>
          </p:nvPr>
        </p:nvGraphicFramePr>
        <p:xfrm>
          <a:off x="5136567" y="1797477"/>
          <a:ext cx="774700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359248894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1258155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70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858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51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654C64-9036-4267-805E-638D194A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1274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Последовательность шагов частотной фильтрации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FC4B04-E9CE-46C3-A8BD-61B8E66F9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63624"/>
            <a:ext cx="10718800" cy="5305425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sz="2400" dirty="0"/>
              <a:t>Исходное изображение </a:t>
            </a:r>
            <a:r>
              <a:rPr lang="ru-RU" sz="2400" b="1" dirty="0"/>
              <a:t>f(x, y).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sz="2400" dirty="0"/>
              <a:t>Предобработка: Умножение на </a:t>
            </a:r>
            <a:r>
              <a:rPr lang="ru-RU" sz="2400" b="1" dirty="0"/>
              <a:t>(-1)^{</a:t>
            </a:r>
            <a:r>
              <a:rPr lang="ru-RU" sz="2400" b="1" dirty="0" err="1"/>
              <a:t>x+y</a:t>
            </a:r>
            <a:r>
              <a:rPr lang="ru-RU" sz="2400" b="1" dirty="0"/>
              <a:t>}</a:t>
            </a:r>
            <a:r>
              <a:rPr lang="ru-RU" sz="2400" dirty="0"/>
              <a:t> для сдвига спектра в центр.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sz="2400" dirty="0"/>
              <a:t>Прямое ДПФ -&gt; Получение </a:t>
            </a:r>
            <a:r>
              <a:rPr lang="ru-RU" sz="2400" b="1" dirty="0"/>
              <a:t>F(u, v)</a:t>
            </a:r>
            <a:r>
              <a:rPr lang="ru-RU" sz="2400" dirty="0"/>
              <a:t>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sz="2400" dirty="0"/>
              <a:t>Фильтрация: Умножение спектра F(u, v) на передаточную функцию фильтра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dirty="0"/>
              <a:t> </a:t>
            </a:r>
            <a:r>
              <a:rPr lang="ru-RU" sz="2400" b="1" dirty="0"/>
              <a:t>H(u, v) -&gt; G(u, v) = F(u, v) * H(u, v).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ru-RU" sz="2400" dirty="0"/>
              <a:t>Обратное ДПФ от </a:t>
            </a:r>
            <a:r>
              <a:rPr lang="ru-RU" sz="2400" b="1" dirty="0"/>
              <a:t>G(u, v) -&gt; g(x, y)</a:t>
            </a:r>
            <a:r>
              <a:rPr lang="ru-RU" sz="2400" dirty="0"/>
              <a:t>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 startAt="5"/>
            </a:pPr>
            <a:r>
              <a:rPr lang="ru-RU" sz="2400" dirty="0"/>
              <a:t>Постобработка: Извлечение действительной части и обратный сдвиг 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b="1" dirty="0"/>
              <a:t>(*(-1)^{</a:t>
            </a:r>
            <a:r>
              <a:rPr lang="ru-RU" sz="2400" b="1" dirty="0" err="1"/>
              <a:t>x+y</a:t>
            </a:r>
            <a:r>
              <a:rPr lang="ru-RU" sz="2400" b="1" dirty="0"/>
              <a:t>})</a:t>
            </a:r>
            <a:r>
              <a:rPr lang="ru-RU" sz="2400" dirty="0"/>
              <a:t>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7"/>
            </a:pPr>
            <a:r>
              <a:rPr lang="ru-RU" sz="2400" dirty="0"/>
              <a:t>Результат фильтрации </a:t>
            </a:r>
            <a:r>
              <a:rPr lang="ru-RU" sz="2400" b="1" dirty="0"/>
              <a:t>g(x, y).</a:t>
            </a:r>
            <a:endParaRPr lang="ru-RU" sz="2400" b="1" i="1" dirty="0"/>
          </a:p>
        </p:txBody>
      </p:sp>
    </p:spTree>
    <p:extLst>
      <p:ext uri="{BB962C8B-B14F-4D97-AF65-F5344CB8AC3E}">
        <p14:creationId xmlns:p14="http://schemas.microsoft.com/office/powerpoint/2010/main" val="3563974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49860-B50F-4287-84AA-36BBE692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Последовательность шагов частотной фильтрации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E787CDF-A6CC-4786-80CB-20C8FE70D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238" y="1690688"/>
            <a:ext cx="973123" cy="94795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827F67-ECB5-4F1B-8F6A-48DDF7819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49" y="1690685"/>
            <a:ext cx="1912690" cy="18875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AEC277-A2EB-47E3-8A26-285724EA7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438" y="1690685"/>
            <a:ext cx="1912690" cy="18875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510633-88A5-4952-B891-2ADBDB426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127" y="1690685"/>
            <a:ext cx="1912690" cy="18875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F33301-18B7-4586-96C5-A3F963997A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6400" y="4049493"/>
            <a:ext cx="1912690" cy="18875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777082-12BD-4E5A-92AA-FA5D2124FB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438" y="4053688"/>
            <a:ext cx="1912690" cy="188752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D4273F-018D-4E65-9F04-7B7DD33602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0476" y="4053688"/>
            <a:ext cx="1912690" cy="188752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87A845-04B8-44CE-945D-4A4DA9D297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5238" y="4049493"/>
            <a:ext cx="973123" cy="947956"/>
          </a:xfrm>
          <a:prstGeom prst="rect">
            <a:avLst/>
          </a:prstGeom>
        </p:spPr>
      </p:pic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635A6A6E-55C8-4A14-BDBF-1DBC2E4538D8}"/>
              </a:ext>
            </a:extLst>
          </p:cNvPr>
          <p:cNvSpPr/>
          <p:nvPr/>
        </p:nvSpPr>
        <p:spPr>
          <a:xfrm>
            <a:off x="2340169" y="2062948"/>
            <a:ext cx="722191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A785A736-0E6E-4382-8DAD-FFA589C0DD36}"/>
              </a:ext>
            </a:extLst>
          </p:cNvPr>
          <p:cNvSpPr/>
          <p:nvPr/>
        </p:nvSpPr>
        <p:spPr>
          <a:xfrm>
            <a:off x="5195343" y="2062948"/>
            <a:ext cx="722191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BC657DF7-60D4-4C6A-982A-CB5CA1BA4B31}"/>
              </a:ext>
            </a:extLst>
          </p:cNvPr>
          <p:cNvSpPr/>
          <p:nvPr/>
        </p:nvSpPr>
        <p:spPr>
          <a:xfrm>
            <a:off x="7982032" y="2062948"/>
            <a:ext cx="722191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ru-RU" dirty="0"/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7F453C35-8607-4368-AEAD-7FAF0CBDD8B0}"/>
              </a:ext>
            </a:extLst>
          </p:cNvPr>
          <p:cNvSpPr/>
          <p:nvPr/>
        </p:nvSpPr>
        <p:spPr>
          <a:xfrm rot="5400000">
            <a:off x="9597797" y="3546248"/>
            <a:ext cx="269894" cy="5352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21" name="Стрелка: влево 20">
            <a:extLst>
              <a:ext uri="{FF2B5EF4-FFF2-40B4-BE49-F238E27FC236}">
                <a16:creationId xmlns:a16="http://schemas.microsoft.com/office/drawing/2014/main" id="{F82728EA-13EE-4C8A-985C-9DE73D654289}"/>
              </a:ext>
            </a:extLst>
          </p:cNvPr>
          <p:cNvSpPr/>
          <p:nvPr/>
        </p:nvSpPr>
        <p:spPr>
          <a:xfrm>
            <a:off x="7938919" y="4332971"/>
            <a:ext cx="774887" cy="3802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ru-RU" dirty="0"/>
          </a:p>
        </p:txBody>
      </p:sp>
      <p:sp>
        <p:nvSpPr>
          <p:cNvPr id="22" name="Стрелка: влево 21">
            <a:extLst>
              <a:ext uri="{FF2B5EF4-FFF2-40B4-BE49-F238E27FC236}">
                <a16:creationId xmlns:a16="http://schemas.microsoft.com/office/drawing/2014/main" id="{BDCEE531-E19B-4285-8748-CEEC7B69019B}"/>
              </a:ext>
            </a:extLst>
          </p:cNvPr>
          <p:cNvSpPr/>
          <p:nvPr/>
        </p:nvSpPr>
        <p:spPr>
          <a:xfrm>
            <a:off x="5160680" y="4332970"/>
            <a:ext cx="774887" cy="3802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ru-RU" dirty="0"/>
          </a:p>
        </p:txBody>
      </p:sp>
      <p:sp>
        <p:nvSpPr>
          <p:cNvPr id="23" name="Стрелка: влево 22">
            <a:extLst>
              <a:ext uri="{FF2B5EF4-FFF2-40B4-BE49-F238E27FC236}">
                <a16:creationId xmlns:a16="http://schemas.microsoft.com/office/drawing/2014/main" id="{1687DB99-79F1-4094-B6AC-CEAB4E384672}"/>
              </a:ext>
            </a:extLst>
          </p:cNvPr>
          <p:cNvSpPr/>
          <p:nvPr/>
        </p:nvSpPr>
        <p:spPr>
          <a:xfrm>
            <a:off x="2311975" y="4309488"/>
            <a:ext cx="774887" cy="38029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792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A286BD-5F7C-49A0-BC52-0F77E9D1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Идеальные фильтры низких частот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E90094-75A7-4552-A803-B5E75255C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61766"/>
            <a:ext cx="10515600" cy="457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i="1" dirty="0"/>
              <a:t>Идеальный фильтр низких частот </a:t>
            </a:r>
            <a:r>
              <a:rPr lang="ru-RU" sz="2400" dirty="0"/>
              <a:t>(идеальный ФНЧ):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B3AE0E-35CE-4BFC-B5C8-A8026297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507" y="4097629"/>
            <a:ext cx="3430981" cy="79558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F26013-6245-45E9-B3B2-7CDB35C8A27C}"/>
              </a:ext>
            </a:extLst>
          </p:cNvPr>
          <p:cNvSpPr/>
          <p:nvPr/>
        </p:nvSpPr>
        <p:spPr>
          <a:xfrm>
            <a:off x="838200" y="4908630"/>
            <a:ext cx="1051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где </a:t>
            </a:r>
            <a:r>
              <a:rPr lang="ru-RU" i="1" dirty="0">
                <a:latin typeface="Newton-Italic"/>
              </a:rPr>
              <a:t>D</a:t>
            </a:r>
            <a:r>
              <a:rPr lang="ru-RU" b="0" i="0" u="none" strike="noStrike" baseline="-25000" dirty="0">
                <a:latin typeface="Newton-Regular"/>
              </a:rPr>
              <a:t>0</a:t>
            </a:r>
            <a:r>
              <a:rPr lang="ru-RU" b="0" i="0" u="none" strike="noStrike" baseline="0" dirty="0">
                <a:latin typeface="Newton-Regular"/>
              </a:rPr>
              <a:t> </a:t>
            </a:r>
            <a:r>
              <a:rPr lang="ru-RU" dirty="0">
                <a:latin typeface="Newton-Regular"/>
              </a:rPr>
              <a:t>— заданная положительная константа, а </a:t>
            </a:r>
            <a:r>
              <a:rPr lang="ru-RU" i="1" dirty="0">
                <a:latin typeface="Newton-Italic"/>
              </a:rPr>
              <a:t>D</a:t>
            </a:r>
            <a:r>
              <a:rPr lang="ru-RU" dirty="0">
                <a:latin typeface="Newton-Regular"/>
              </a:rPr>
              <a:t>(</a:t>
            </a:r>
            <a:r>
              <a:rPr lang="ru-RU" i="1" dirty="0" err="1">
                <a:latin typeface="Newton-Italic"/>
              </a:rPr>
              <a:t>u</a:t>
            </a:r>
            <a:r>
              <a:rPr lang="ru-RU" dirty="0" err="1">
                <a:latin typeface="Newton-Regular"/>
              </a:rPr>
              <a:t>,</a:t>
            </a:r>
            <a:r>
              <a:rPr lang="ru-RU" i="1" dirty="0" err="1">
                <a:latin typeface="Newton-Italic"/>
              </a:rPr>
              <a:t>v</a:t>
            </a:r>
            <a:r>
              <a:rPr lang="ru-RU" dirty="0">
                <a:latin typeface="Newton-Regular"/>
              </a:rPr>
              <a:t>) — расстояние от точки (</a:t>
            </a:r>
            <a:r>
              <a:rPr lang="ru-RU" i="1" dirty="0" err="1">
                <a:latin typeface="Newton-Italic"/>
              </a:rPr>
              <a:t>u</a:t>
            </a:r>
            <a:r>
              <a:rPr lang="ru-RU" dirty="0" err="1">
                <a:latin typeface="Newton-Regular"/>
              </a:rPr>
              <a:t>,</a:t>
            </a:r>
            <a:r>
              <a:rPr lang="ru-RU" i="1" dirty="0" err="1">
                <a:latin typeface="Newton-Italic"/>
              </a:rPr>
              <a:t>v</a:t>
            </a:r>
            <a:r>
              <a:rPr lang="ru-RU" dirty="0">
                <a:latin typeface="Newton-Regular"/>
              </a:rPr>
              <a:t>) частотной области до начала координат (центра частотного прямоугольника)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4C07D5-6CD8-46FA-8B84-5B6D89DBC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507" y="5591377"/>
            <a:ext cx="3851420" cy="58552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C830E7-DF86-470E-A5D4-5C4ECCA88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34" y="1435557"/>
            <a:ext cx="6107185" cy="187074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B487DB7-DA61-452F-988B-227996F0A2A0}"/>
              </a:ext>
            </a:extLst>
          </p:cNvPr>
          <p:cNvSpPr/>
          <p:nvPr/>
        </p:nvSpPr>
        <p:spPr>
          <a:xfrm>
            <a:off x="6946718" y="1727104"/>
            <a:ext cx="481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Трехмерный график передаточной </a:t>
            </a:r>
          </a:p>
          <a:p>
            <a:r>
              <a:rPr lang="ru-RU" dirty="0">
                <a:latin typeface="Newton-Regular"/>
              </a:rPr>
              <a:t>функции идеального низкочастотного фильтра.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 Представление фильтра в виде изображения.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в</a:t>
            </a:r>
            <a:r>
              <a:rPr lang="ru-RU" dirty="0">
                <a:latin typeface="Newton-Regular"/>
              </a:rPr>
              <a:t>) Радиальный профиль фильтра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6564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185E0-6876-49DA-9568-4AEF280AF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17625"/>
          </a:xfrm>
        </p:spPr>
        <p:txBody>
          <a:bodyPr/>
          <a:lstStyle/>
          <a:p>
            <a:r>
              <a:rPr lang="ru-RU" dirty="0"/>
              <a:t>Пример идеального ФНЧ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CA0D96-571E-48AD-9532-DB9CE0EBB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46" y="4267312"/>
            <a:ext cx="1800000" cy="180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0192AC-EF5A-4A92-B1C6-2C69962AE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942" y="4267312"/>
            <a:ext cx="1800000" cy="180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D25DEF-7ECD-492A-AAD9-AB3E3F96B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238" y="4267312"/>
            <a:ext cx="1800000" cy="180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43536C-880C-45AD-AD44-B2A3DF8A6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534" y="4267312"/>
            <a:ext cx="1800000" cy="180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5583FB-BB46-479F-874D-14FA88AC7F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8830" y="4267312"/>
            <a:ext cx="1800000" cy="180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4B31FF9-9986-4B3D-990F-842C795495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625843"/>
            <a:ext cx="1800000" cy="180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8511840-E4D1-41E2-9401-012D403456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7053" y="1625036"/>
            <a:ext cx="1800000" cy="180000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5F6DE56-BFB2-45B9-AE37-9BF5D4430668}"/>
              </a:ext>
            </a:extLst>
          </p:cNvPr>
          <p:cNvSpPr/>
          <p:nvPr/>
        </p:nvSpPr>
        <p:spPr>
          <a:xfrm>
            <a:off x="640890" y="1211287"/>
            <a:ext cx="8208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Тестовое изображение размерами 688</a:t>
            </a:r>
            <a:r>
              <a:rPr lang="en-US" dirty="0">
                <a:latin typeface="Newton-Regular"/>
              </a:rPr>
              <a:t>x</a:t>
            </a:r>
            <a:r>
              <a:rPr lang="ru-RU" dirty="0">
                <a:latin typeface="Newton-Regular"/>
              </a:rPr>
              <a:t>688 пикселей и</a:t>
            </a:r>
            <a:r>
              <a:rPr lang="en-US" dirty="0">
                <a:latin typeface="Newton-Regular"/>
              </a:rPr>
              <a:t> </a:t>
            </a:r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 его Фурье-спектр.</a:t>
            </a:r>
            <a:endParaRPr lang="ru-RU" dirty="0"/>
          </a:p>
        </p:txBody>
      </p:sp>
      <p:graphicFrame>
        <p:nvGraphicFramePr>
          <p:cNvPr id="13" name="Таблица 13">
            <a:extLst>
              <a:ext uri="{FF2B5EF4-FFF2-40B4-BE49-F238E27FC236}">
                <a16:creationId xmlns:a16="http://schemas.microsoft.com/office/drawing/2014/main" id="{18C8A4A2-6295-4D83-952F-AD72B7F50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250513"/>
              </p:ext>
            </p:extLst>
          </p:nvPr>
        </p:nvGraphicFramePr>
        <p:xfrm>
          <a:off x="4935907" y="1625843"/>
          <a:ext cx="671148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35574">
                  <a:extLst>
                    <a:ext uri="{9D8B030D-6E8A-4147-A177-3AD203B41FA5}">
                      <a16:colId xmlns:a16="http://schemas.microsoft.com/office/drawing/2014/main" val="3588877442"/>
                    </a:ext>
                  </a:extLst>
                </a:gridCol>
                <a:gridCol w="335574">
                  <a:extLst>
                    <a:ext uri="{9D8B030D-6E8A-4147-A177-3AD203B41FA5}">
                      <a16:colId xmlns:a16="http://schemas.microsoft.com/office/drawing/2014/main" val="859914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055248"/>
                  </a:ext>
                </a:extLst>
              </a:tr>
            </a:tbl>
          </a:graphicData>
        </a:graphic>
      </p:graphicFrame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BBB36AF-CEAE-469A-B6A4-06A5B3B21F5E}"/>
              </a:ext>
            </a:extLst>
          </p:cNvPr>
          <p:cNvSpPr/>
          <p:nvPr/>
        </p:nvSpPr>
        <p:spPr>
          <a:xfrm>
            <a:off x="713646" y="3715435"/>
            <a:ext cx="8089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Результаты фильтрации идеальными ФНЧ с частотой среза 10, 30, 60, 160 и 460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4788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BB2D0-2FAD-4384-BFE2-D81C72E7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Фильтры низких частот </a:t>
            </a:r>
            <a:r>
              <a:rPr lang="ru-RU" sz="3600" dirty="0" err="1"/>
              <a:t>Баттерворта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4508B4-E088-41F1-91F3-743F4093D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9866"/>
            <a:ext cx="6006517" cy="187913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88ED992-8590-4C99-886D-311672050DFA}"/>
              </a:ext>
            </a:extLst>
          </p:cNvPr>
          <p:cNvSpPr/>
          <p:nvPr/>
        </p:nvSpPr>
        <p:spPr>
          <a:xfrm>
            <a:off x="6775450" y="1690688"/>
            <a:ext cx="48704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Трехмерный график передаточной функции низкочастотного фильтра </a:t>
            </a:r>
            <a:r>
              <a:rPr lang="ru-RU" dirty="0" err="1">
                <a:latin typeface="Newton-Regular"/>
              </a:rPr>
              <a:t>Баттерворта</a:t>
            </a:r>
            <a:r>
              <a:rPr lang="ru-RU" dirty="0">
                <a:latin typeface="Newton-Regular"/>
              </a:rPr>
              <a:t>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 Полутоновое изображение фильтра.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в</a:t>
            </a:r>
            <a:r>
              <a:rPr lang="ru-RU" dirty="0">
                <a:latin typeface="Newton-Regular"/>
              </a:rPr>
              <a:t>) Радиальные профили фильтров с порядками от 1 до 4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E8F23B-422A-481E-AA33-106ED6A5B05E}"/>
              </a:ext>
            </a:extLst>
          </p:cNvPr>
          <p:cNvSpPr/>
          <p:nvPr/>
        </p:nvSpPr>
        <p:spPr>
          <a:xfrm>
            <a:off x="838200" y="3967410"/>
            <a:ext cx="10807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Передаточная функция низкочастотного фильтра </a:t>
            </a:r>
            <a:r>
              <a:rPr lang="ru-RU" dirty="0" err="1">
                <a:latin typeface="Newton-Regular"/>
              </a:rPr>
              <a:t>Баттерворта</a:t>
            </a:r>
            <a:r>
              <a:rPr lang="ru-RU" dirty="0">
                <a:latin typeface="Newton-Regular"/>
              </a:rPr>
              <a:t> (ФНЧ </a:t>
            </a:r>
            <a:r>
              <a:rPr lang="ru-RU" dirty="0" err="1">
                <a:latin typeface="Newton-Regular"/>
              </a:rPr>
              <a:t>Баттерворта</a:t>
            </a:r>
            <a:r>
              <a:rPr lang="ru-RU" dirty="0">
                <a:latin typeface="Newton-Regular"/>
              </a:rPr>
              <a:t>) порядка </a:t>
            </a:r>
            <a:r>
              <a:rPr lang="ru-RU" i="1" dirty="0">
                <a:latin typeface="Newton-Italic"/>
              </a:rPr>
              <a:t>n </a:t>
            </a:r>
            <a:r>
              <a:rPr lang="ru-RU" dirty="0">
                <a:latin typeface="Newton-Regular"/>
              </a:rPr>
              <a:t>с частотой среза на расстоянии </a:t>
            </a:r>
            <a:r>
              <a:rPr lang="ru-RU" i="1" dirty="0">
                <a:latin typeface="Newton-Italic"/>
              </a:rPr>
              <a:t>D</a:t>
            </a:r>
            <a:r>
              <a:rPr lang="ru-RU" sz="800" b="0" i="0" u="none" strike="noStrike" baseline="0" dirty="0">
                <a:latin typeface="Newton-Regular"/>
              </a:rPr>
              <a:t>0 </a:t>
            </a:r>
            <a:r>
              <a:rPr lang="ru-RU" dirty="0">
                <a:latin typeface="Newton-Regular"/>
              </a:rPr>
              <a:t>от начала координат задается формулой: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06FA5F-5D19-4EF6-AC4F-DDE0FF2D3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699" y="4754563"/>
            <a:ext cx="2728602" cy="87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38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CD4E7-F02E-4F51-B359-5CFBD8647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ФНЧ </a:t>
            </a:r>
            <a:r>
              <a:rPr lang="ru-RU" dirty="0" err="1"/>
              <a:t>Баттерворта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716043-40E2-40B9-AEA6-A2D85B6E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2160000" cy="216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D806AC-9B1E-47A6-806A-87BFC533C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351" y="1825625"/>
            <a:ext cx="2160000" cy="216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0B75E5-22D2-4AC0-BC33-9D8B72E60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2" y="1825625"/>
            <a:ext cx="2160000" cy="216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5C5B10-C9B8-4E57-981B-70B6B47AC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120562"/>
            <a:ext cx="2160000" cy="216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D4B5DC4-D3B3-4B58-94BD-A79A938618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4351" y="4120562"/>
            <a:ext cx="2160000" cy="216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9B5D4E-6FDC-4134-92E1-1B4A924DDC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2" y="4120562"/>
            <a:ext cx="2160000" cy="2160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FE8E82E-BF9F-4090-8EFC-BA27BE46335B}"/>
              </a:ext>
            </a:extLst>
          </p:cNvPr>
          <p:cNvSpPr/>
          <p:nvPr/>
        </p:nvSpPr>
        <p:spPr>
          <a:xfrm>
            <a:off x="8045450" y="4120562"/>
            <a:ext cx="37528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Исходное изображение.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)—(</a:t>
            </a:r>
            <a:r>
              <a:rPr lang="ru-RU" i="1" dirty="0">
                <a:latin typeface="Newton-Italic"/>
              </a:rPr>
              <a:t>е</a:t>
            </a:r>
            <a:r>
              <a:rPr lang="ru-RU" dirty="0">
                <a:latin typeface="Newton-Regular"/>
              </a:rPr>
              <a:t>) Результаты фильтрации </a:t>
            </a:r>
          </a:p>
          <a:p>
            <a:r>
              <a:rPr lang="ru-RU" dirty="0">
                <a:latin typeface="Newton-Regular"/>
              </a:rPr>
              <a:t>с использованием ФНЧ </a:t>
            </a:r>
            <a:r>
              <a:rPr lang="ru-RU" dirty="0" err="1">
                <a:latin typeface="Newton-Regular"/>
              </a:rPr>
              <a:t>Баттерворта</a:t>
            </a:r>
            <a:r>
              <a:rPr lang="ru-RU" dirty="0">
                <a:latin typeface="Newton-Regular"/>
              </a:rPr>
              <a:t> </a:t>
            </a:r>
          </a:p>
          <a:p>
            <a:r>
              <a:rPr lang="ru-RU" dirty="0">
                <a:latin typeface="Newton-Regular"/>
              </a:rPr>
              <a:t>порядка 2 с частотами среза 10, 30, 60, 160 и 460</a:t>
            </a:r>
            <a:endParaRPr lang="ru-RU" dirty="0"/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C76E90EC-BCB4-4616-AC6B-3DBED7CDF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925334"/>
              </p:ext>
            </p:extLst>
          </p:nvPr>
        </p:nvGraphicFramePr>
        <p:xfrm>
          <a:off x="8045450" y="1825625"/>
          <a:ext cx="1314450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8150">
                  <a:extLst>
                    <a:ext uri="{9D8B030D-6E8A-4147-A177-3AD203B41FA5}">
                      <a16:colId xmlns:a16="http://schemas.microsoft.com/office/drawing/2014/main" val="3595913776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3850710859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79119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82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574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973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06D6D-F58E-46D7-A8C9-78BA286E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Гауссовы фильтры низких частот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8ACF938-0F42-46BB-B25A-7F7E67862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4047" y="4413766"/>
            <a:ext cx="2363905" cy="7284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AD3945-F3C3-4EB2-9F96-FFA93FC67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1143"/>
            <a:ext cx="6040073" cy="193785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934E342-C53F-4334-AC92-D0C538099C20}"/>
              </a:ext>
            </a:extLst>
          </p:cNvPr>
          <p:cNvSpPr/>
          <p:nvPr/>
        </p:nvSpPr>
        <p:spPr>
          <a:xfrm>
            <a:off x="6959600" y="1721407"/>
            <a:ext cx="47180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Трехмерный график передаточной функции ФНЧ Гаусса.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 Полутоновое изображение фильтра.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в</a:t>
            </a:r>
            <a:r>
              <a:rPr lang="ru-RU" dirty="0">
                <a:latin typeface="Newton-Regular"/>
              </a:rPr>
              <a:t>) Радиальные профили фильтров</a:t>
            </a:r>
          </a:p>
          <a:p>
            <a:r>
              <a:rPr lang="ru-RU" dirty="0">
                <a:latin typeface="Newton-Regular"/>
              </a:rPr>
              <a:t>для различных значений </a:t>
            </a:r>
            <a:r>
              <a:rPr lang="en-US" i="1" dirty="0">
                <a:latin typeface="Newton-Italic"/>
              </a:rPr>
              <a:t>D</a:t>
            </a:r>
            <a:r>
              <a:rPr lang="en-US" sz="800" b="0" i="0" u="none" strike="noStrike" baseline="0" dirty="0">
                <a:latin typeface="Newton-Regular"/>
              </a:rPr>
              <a:t>0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264FE0F-E548-43DD-8597-68CC281F559B}"/>
              </a:ext>
            </a:extLst>
          </p:cNvPr>
          <p:cNvSpPr/>
          <p:nvPr/>
        </p:nvSpPr>
        <p:spPr>
          <a:xfrm>
            <a:off x="838200" y="3767435"/>
            <a:ext cx="1051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Передаточная функция низкочастотного фильтра Гаусса с частотой среза на расстоянии </a:t>
            </a:r>
            <a:r>
              <a:rPr lang="ru-RU" i="1" dirty="0">
                <a:latin typeface="Newton-Italic"/>
              </a:rPr>
              <a:t>D</a:t>
            </a:r>
            <a:r>
              <a:rPr lang="ru-RU" sz="800" b="0" i="0" u="none" strike="noStrike" baseline="0" dirty="0">
                <a:latin typeface="Newton-Regular"/>
              </a:rPr>
              <a:t>0 </a:t>
            </a:r>
            <a:r>
              <a:rPr lang="ru-RU" dirty="0">
                <a:latin typeface="Newton-Regular"/>
              </a:rPr>
              <a:t>от начала координат задается формулой: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342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CD4E7-F02E-4F51-B359-5CFBD8647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ФНЧ Гаусса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716043-40E2-40B9-AEA6-A2D85B6E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2160000" cy="216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5C5B10-C9B8-4E57-981B-70B6B47AC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20562"/>
            <a:ext cx="2160000" cy="216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D4B5DC4-D3B3-4B58-94BD-A79A93861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351" y="4120562"/>
            <a:ext cx="2160000" cy="216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9B5D4E-6FDC-4134-92E1-1B4A924DD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2" y="4120562"/>
            <a:ext cx="2160000" cy="2160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FE8E82E-BF9F-4090-8EFC-BA27BE46335B}"/>
              </a:ext>
            </a:extLst>
          </p:cNvPr>
          <p:cNvSpPr/>
          <p:nvPr/>
        </p:nvSpPr>
        <p:spPr>
          <a:xfrm>
            <a:off x="8045450" y="4120562"/>
            <a:ext cx="37528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Исходное изображение.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)—(</a:t>
            </a:r>
            <a:r>
              <a:rPr lang="ru-RU" i="1" dirty="0">
                <a:latin typeface="Newton-Italic"/>
              </a:rPr>
              <a:t>е</a:t>
            </a:r>
            <a:r>
              <a:rPr lang="ru-RU" dirty="0">
                <a:latin typeface="Newton-Regular"/>
              </a:rPr>
              <a:t>) Результаты фильтрации </a:t>
            </a:r>
          </a:p>
          <a:p>
            <a:r>
              <a:rPr lang="ru-RU" dirty="0">
                <a:latin typeface="Newton-Regular"/>
              </a:rPr>
              <a:t>с использованием ФНЧ </a:t>
            </a:r>
            <a:r>
              <a:rPr lang="ru-RU" dirty="0" err="1"/>
              <a:t>Гаус</a:t>
            </a:r>
            <a:r>
              <a:rPr lang="ru-RU" dirty="0"/>
              <a:t>-</a:t>
            </a:r>
          </a:p>
          <a:p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>
                <a:latin typeface="Newton-Regular"/>
              </a:rPr>
              <a:t>с частотами среза 10, 30, 60, 160 и 460</a:t>
            </a:r>
            <a:endParaRPr lang="ru-RU" dirty="0"/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C76E90EC-BCB4-4616-AC6B-3DBED7CDF948}"/>
              </a:ext>
            </a:extLst>
          </p:cNvPr>
          <p:cNvGraphicFramePr>
            <a:graphicFrameLocks noGrp="1"/>
          </p:cNvGraphicFramePr>
          <p:nvPr/>
        </p:nvGraphicFramePr>
        <p:xfrm>
          <a:off x="8045450" y="1825625"/>
          <a:ext cx="1314450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8150">
                  <a:extLst>
                    <a:ext uri="{9D8B030D-6E8A-4147-A177-3AD203B41FA5}">
                      <a16:colId xmlns:a16="http://schemas.microsoft.com/office/drawing/2014/main" val="3595913776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3850710859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79119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82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574917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F0A998-2365-4DE7-987E-7E8E5AFE0A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9451" y="1825625"/>
            <a:ext cx="2160000" cy="216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BD1521-2357-45C7-B258-5A2D3444C3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2" y="1825625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69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4A6DA-F96B-42CB-837D-9AC9763C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Сравнительная таблица ФНЧ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17A87F2-B941-407C-9E3A-438D761C02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768392"/>
              </p:ext>
            </p:extLst>
          </p:nvPr>
        </p:nvGraphicFramePr>
        <p:xfrm>
          <a:off x="838200" y="1690688"/>
          <a:ext cx="10515599" cy="35882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40285">
                  <a:extLst>
                    <a:ext uri="{9D8B030D-6E8A-4147-A177-3AD203B41FA5}">
                      <a16:colId xmlns:a16="http://schemas.microsoft.com/office/drawing/2014/main" val="3829926094"/>
                    </a:ext>
                  </a:extLst>
                </a:gridCol>
                <a:gridCol w="2658438">
                  <a:extLst>
                    <a:ext uri="{9D8B030D-6E8A-4147-A177-3AD203B41FA5}">
                      <a16:colId xmlns:a16="http://schemas.microsoft.com/office/drawing/2014/main" val="3444807334"/>
                    </a:ext>
                  </a:extLst>
                </a:gridCol>
                <a:gridCol w="2658438">
                  <a:extLst>
                    <a:ext uri="{9D8B030D-6E8A-4147-A177-3AD203B41FA5}">
                      <a16:colId xmlns:a16="http://schemas.microsoft.com/office/drawing/2014/main" val="1965541474"/>
                    </a:ext>
                  </a:extLst>
                </a:gridCol>
                <a:gridCol w="2658438">
                  <a:extLst>
                    <a:ext uri="{9D8B030D-6E8A-4147-A177-3AD203B41FA5}">
                      <a16:colId xmlns:a16="http://schemas.microsoft.com/office/drawing/2014/main" val="4082242287"/>
                    </a:ext>
                  </a:extLst>
                </a:gridCol>
              </a:tblGrid>
              <a:tr h="563558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Параметр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Идеальный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Баттерворта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Гаусса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937280464"/>
                  </a:ext>
                </a:extLst>
              </a:tr>
              <a:tr h="563558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Резкость среза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Абсолютная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Зависит от порядка </a:t>
                      </a:r>
                      <a:r>
                        <a:rPr lang="en-US" b="0">
                          <a:effectLst/>
                        </a:rPr>
                        <a:t>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Плавная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266939637"/>
                  </a:ext>
                </a:extLst>
              </a:tr>
              <a:tr h="563558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Эффект колец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Сильный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Слабый (зависит от </a:t>
                      </a:r>
                      <a:r>
                        <a:rPr lang="en-US" b="0">
                          <a:effectLst/>
                        </a:rPr>
                        <a:t>n)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Отсутствует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108456652"/>
                  </a:ext>
                </a:extLst>
              </a:tr>
              <a:tr h="948775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Вычислительная сложность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Низкая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Средняя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Низкая (быстрая свертка)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04496311"/>
                  </a:ext>
                </a:extLst>
              </a:tr>
              <a:tr h="948775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Основное применение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Теоретическое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Общего назначения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ru-RU" b="0" dirty="0" err="1">
                          <a:effectLst/>
                        </a:rPr>
                        <a:t>Антиалиасинг</a:t>
                      </a:r>
                      <a:r>
                        <a:rPr lang="ru-RU" b="0" dirty="0">
                          <a:effectLst/>
                        </a:rPr>
                        <a:t>, подавление шума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658747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76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C9161-34A3-4D41-8CDE-5EAEFCAF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Дополнительные примеры низкочастотной фильтрации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6D8C4C-8E59-4202-99FB-D9F2257CF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550" y="1747838"/>
            <a:ext cx="6946899" cy="327195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2F7ED52-8737-43C0-ADF3-02004EC2B045}"/>
              </a:ext>
            </a:extLst>
          </p:cNvPr>
          <p:cNvSpPr/>
          <p:nvPr/>
        </p:nvSpPr>
        <p:spPr>
          <a:xfrm>
            <a:off x="3251200" y="5076939"/>
            <a:ext cx="5410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Образец текста низкого разрешения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 Результат фильтрации с применением ФНЧ Гаусса </a:t>
            </a:r>
          </a:p>
          <a:p>
            <a:r>
              <a:rPr lang="ru-RU" dirty="0">
                <a:latin typeface="Newton-Regular"/>
              </a:rPr>
              <a:t>(произошло соединение разорванных сегментов)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3773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16681-3505-42D8-A64A-A3F275971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Дополнительные примеры низкочастотной фильтрации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4B91DF9-2732-4CC3-AE70-E81BA9A9D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1560" y="1568450"/>
            <a:ext cx="8008650" cy="315595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ED5EED5-8C92-4653-9BB5-2304D32C8AF0}"/>
              </a:ext>
            </a:extLst>
          </p:cNvPr>
          <p:cNvSpPr/>
          <p:nvPr/>
        </p:nvSpPr>
        <p:spPr>
          <a:xfrm>
            <a:off x="3048000" y="49001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Изображение с заметными горизонтальными линиями сканирования.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 Результат, полученный при помощи ФНЧ Гаусса с </a:t>
            </a:r>
            <a:r>
              <a:rPr lang="ru-RU" i="1" dirty="0">
                <a:latin typeface="Newton-Italic"/>
              </a:rPr>
              <a:t>D</a:t>
            </a:r>
            <a:r>
              <a:rPr lang="ru-RU" sz="800" b="0" i="0" u="none" strike="noStrike" baseline="0" dirty="0">
                <a:latin typeface="Newton-Regular"/>
              </a:rPr>
              <a:t>0 </a:t>
            </a:r>
            <a:r>
              <a:rPr lang="ru-RU" dirty="0">
                <a:latin typeface="Newton-Regular"/>
              </a:rPr>
              <a:t>= 50.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в</a:t>
            </a:r>
            <a:r>
              <a:rPr lang="ru-RU" dirty="0">
                <a:latin typeface="Newton-Regular"/>
              </a:rPr>
              <a:t>) Результат, полученный при помощи ФНЧ Гаусса с </a:t>
            </a:r>
            <a:r>
              <a:rPr lang="ru-RU" i="1" dirty="0">
                <a:latin typeface="Newton-Italic"/>
              </a:rPr>
              <a:t>D</a:t>
            </a:r>
            <a:r>
              <a:rPr lang="ru-RU" sz="800" b="0" i="0" u="none" strike="noStrike" baseline="0" dirty="0">
                <a:latin typeface="Newton-Regular"/>
              </a:rPr>
              <a:t>0 </a:t>
            </a:r>
            <a:r>
              <a:rPr lang="ru-RU" dirty="0">
                <a:latin typeface="Newton-Regular"/>
              </a:rPr>
              <a:t>= 20.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8532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7F79C-66B5-4B41-9BF9-6F6DD2C5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Повышения резкости изображений частотными фильтрами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FC8F93-E7D6-4AC5-9AC3-3FC26B519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725"/>
            <a:ext cx="4629150" cy="1508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Передаточная функция высокочастотного фильтра может быть получена из заданного низкочастотного фильтра при помощи соотношения: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D9947A-C66D-4DF6-9CEA-676DFD91D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2" y="2889250"/>
            <a:ext cx="3143246" cy="6858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C2F2E3-33C4-452D-BD26-B6D3751EF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1397938"/>
            <a:ext cx="5323479" cy="507812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8BE653-3BE9-4E83-9CC7-C7D88E2F75FB}"/>
              </a:ext>
            </a:extLst>
          </p:cNvPr>
          <p:cNvSpPr/>
          <p:nvPr/>
        </p:nvSpPr>
        <p:spPr>
          <a:xfrm>
            <a:off x="838200" y="3930651"/>
            <a:ext cx="47815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Верхний ряд (а, б, в): трехмерный график, полутоновое изображение и профиль типичного идеального высокочастотного фильтра. </a:t>
            </a:r>
          </a:p>
          <a:p>
            <a:r>
              <a:rPr lang="ru-RU" dirty="0">
                <a:latin typeface="Newton-Regular"/>
              </a:rPr>
              <a:t>Средний (г, д, е) и нижний ряды (ж, з, и) : </a:t>
            </a:r>
          </a:p>
          <a:p>
            <a:r>
              <a:rPr lang="ru-RU" dirty="0">
                <a:latin typeface="Newton-Regular"/>
              </a:rPr>
              <a:t>та же последовательность для типичных высокочастотных фильтров </a:t>
            </a:r>
            <a:r>
              <a:rPr lang="ru-RU" dirty="0" err="1">
                <a:latin typeface="Newton-Regular"/>
              </a:rPr>
              <a:t>Баттерворта</a:t>
            </a:r>
            <a:r>
              <a:rPr lang="ru-RU" dirty="0">
                <a:latin typeface="Newton-Regular"/>
              </a:rPr>
              <a:t> и Гаусса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5307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9F1F3-0CA8-4DF3-B77C-BBA73CAFB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" y="664494"/>
            <a:ext cx="10515600" cy="625475"/>
          </a:xfrm>
        </p:spPr>
        <p:txBody>
          <a:bodyPr>
            <a:noAutofit/>
          </a:bodyPr>
          <a:lstStyle/>
          <a:p>
            <a:r>
              <a:rPr lang="ru-RU" dirty="0"/>
              <a:t>Пример ФВЧ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F95F069-EF10-41A0-B524-D78A253E3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571"/>
          <a:stretch/>
        </p:blipFill>
        <p:spPr>
          <a:xfrm>
            <a:off x="5447950" y="370893"/>
            <a:ext cx="5905850" cy="196478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F522FA-77A6-4CD9-853E-CFE9CD14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50" y="2447488"/>
            <a:ext cx="5872294" cy="196302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7CC8EB-3F38-4643-89F1-D275DC84F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950" y="4522320"/>
            <a:ext cx="5872294" cy="1954635"/>
          </a:xfrm>
          <a:prstGeom prst="rect">
            <a:avLst/>
          </a:prstGeom>
        </p:spPr>
      </p:pic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17B13C9C-1562-4C43-A170-2F17F04D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403359"/>
              </p:ext>
            </p:extLst>
          </p:nvPr>
        </p:nvGraphicFramePr>
        <p:xfrm>
          <a:off x="4127500" y="428591"/>
          <a:ext cx="1130301" cy="10972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76767">
                  <a:extLst>
                    <a:ext uri="{9D8B030D-6E8A-4147-A177-3AD203B41FA5}">
                      <a16:colId xmlns:a16="http://schemas.microsoft.com/office/drawing/2014/main" val="1702816978"/>
                    </a:ext>
                  </a:extLst>
                </a:gridCol>
                <a:gridCol w="376767">
                  <a:extLst>
                    <a:ext uri="{9D8B030D-6E8A-4147-A177-3AD203B41FA5}">
                      <a16:colId xmlns:a16="http://schemas.microsoft.com/office/drawing/2014/main" val="3055747001"/>
                    </a:ext>
                  </a:extLst>
                </a:gridCol>
                <a:gridCol w="376767">
                  <a:extLst>
                    <a:ext uri="{9D8B030D-6E8A-4147-A177-3AD203B41FA5}">
                      <a16:colId xmlns:a16="http://schemas.microsoft.com/office/drawing/2014/main" val="1681344274"/>
                    </a:ext>
                  </a:extLst>
                </a:gridCol>
              </a:tblGrid>
              <a:tr h="300745">
                <a:tc>
                  <a:txBody>
                    <a:bodyPr/>
                    <a:lstStyle/>
                    <a:p>
                      <a:r>
                        <a:rPr lang="ru-RU" b="1" dirty="0"/>
                        <a:t>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553652"/>
                  </a:ext>
                </a:extLst>
              </a:tr>
              <a:tr h="300745">
                <a:tc>
                  <a:txBody>
                    <a:bodyPr/>
                    <a:lstStyle/>
                    <a:p>
                      <a:r>
                        <a:rPr lang="ru-RU" b="1" dirty="0"/>
                        <a:t>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752805"/>
                  </a:ext>
                </a:extLst>
              </a:tr>
              <a:tr h="300745">
                <a:tc>
                  <a:txBody>
                    <a:bodyPr/>
                    <a:lstStyle/>
                    <a:p>
                      <a:r>
                        <a:rPr lang="ru-RU" b="1" dirty="0"/>
                        <a:t>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900886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C8EA2EE-B464-4523-94E7-5FD59BEE7A7B}"/>
              </a:ext>
            </a:extLst>
          </p:cNvPr>
          <p:cNvSpPr/>
          <p:nvPr/>
        </p:nvSpPr>
        <p:spPr>
          <a:xfrm>
            <a:off x="603250" y="1874015"/>
            <a:ext cx="37703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Результаты высокочастотной фильтрации изображения(а, б, в)</a:t>
            </a:r>
          </a:p>
          <a:p>
            <a:r>
              <a:rPr lang="ru-RU" dirty="0">
                <a:latin typeface="Newton-Regular"/>
              </a:rPr>
              <a:t>использовался идеальный ФВЧ с </a:t>
            </a:r>
            <a:r>
              <a:rPr lang="ru-RU" i="1" dirty="0">
                <a:latin typeface="Newton-Italic"/>
              </a:rPr>
              <a:t>D</a:t>
            </a:r>
            <a:r>
              <a:rPr lang="ru-RU" sz="800" b="0" i="0" u="none" strike="noStrike" baseline="0" dirty="0">
                <a:latin typeface="Newton-Regular"/>
              </a:rPr>
              <a:t>0 </a:t>
            </a:r>
            <a:r>
              <a:rPr lang="ru-RU" dirty="0">
                <a:latin typeface="Newton-Regular"/>
              </a:rPr>
              <a:t>= 30, 60 и 160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227423B-381B-4445-BBE1-48CA31FC5F42}"/>
              </a:ext>
            </a:extLst>
          </p:cNvPr>
          <p:cNvSpPr/>
          <p:nvPr/>
        </p:nvSpPr>
        <p:spPr>
          <a:xfrm>
            <a:off x="603250" y="3137665"/>
            <a:ext cx="37703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Результаты высокочастотной фильтрации изображения(а, б, в)</a:t>
            </a:r>
          </a:p>
          <a:p>
            <a:r>
              <a:rPr lang="ru-RU" dirty="0">
                <a:latin typeface="Newton-Regular"/>
              </a:rPr>
              <a:t>использовался </a:t>
            </a:r>
            <a:r>
              <a:rPr lang="ru-RU" dirty="0"/>
              <a:t>ФВЧ </a:t>
            </a:r>
            <a:r>
              <a:rPr lang="ru-RU" dirty="0" err="1"/>
              <a:t>Баттерворта</a:t>
            </a:r>
            <a:r>
              <a:rPr lang="ru-RU" dirty="0"/>
              <a:t> порядка 2 </a:t>
            </a:r>
            <a:r>
              <a:rPr lang="ru-RU" i="1" dirty="0">
                <a:latin typeface="Newton-Italic"/>
              </a:rPr>
              <a:t>D</a:t>
            </a:r>
            <a:r>
              <a:rPr lang="ru-RU" sz="800" b="0" i="0" u="none" strike="noStrike" baseline="0" dirty="0">
                <a:latin typeface="Newton-Regular"/>
              </a:rPr>
              <a:t>0 </a:t>
            </a:r>
            <a:r>
              <a:rPr lang="ru-RU" dirty="0">
                <a:latin typeface="Newton-Regular"/>
              </a:rPr>
              <a:t>= 30, 60 и 160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8AFB02B-FAFC-449A-B8C3-26D2FC5A4018}"/>
              </a:ext>
            </a:extLst>
          </p:cNvPr>
          <p:cNvSpPr/>
          <p:nvPr/>
        </p:nvSpPr>
        <p:spPr>
          <a:xfrm>
            <a:off x="603250" y="4522320"/>
            <a:ext cx="37703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Результаты высокочастотной фильтрации изображения(а, б, в)</a:t>
            </a:r>
          </a:p>
          <a:p>
            <a:r>
              <a:rPr lang="ru-RU" dirty="0">
                <a:latin typeface="Newton-Regular"/>
              </a:rPr>
              <a:t>использовался </a:t>
            </a:r>
            <a:r>
              <a:rPr lang="ru-RU" dirty="0"/>
              <a:t>ФВЧ Гаусса </a:t>
            </a:r>
            <a:r>
              <a:rPr lang="ru-RU" i="1" dirty="0">
                <a:latin typeface="Newton-Italic"/>
              </a:rPr>
              <a:t>D</a:t>
            </a:r>
            <a:r>
              <a:rPr lang="ru-RU" sz="800" b="0" i="0" u="none" strike="noStrike" baseline="0" dirty="0">
                <a:latin typeface="Newton-Regular"/>
              </a:rPr>
              <a:t>0 </a:t>
            </a:r>
            <a:r>
              <a:rPr lang="ru-RU" dirty="0">
                <a:latin typeface="Newton-Regular"/>
              </a:rPr>
              <a:t>= 30, 60 и 160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0929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125E9C-C9B1-46DE-A8C1-807CB0DBF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Дополнительные примеры высокочастотной фильтрации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AF5C649-112A-4F56-AFB2-25357D9A0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4127" y="1690688"/>
            <a:ext cx="8403745" cy="238262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789FFC-3462-4DD0-B77D-6BB3442B2413}"/>
              </a:ext>
            </a:extLst>
          </p:cNvPr>
          <p:cNvSpPr/>
          <p:nvPr/>
        </p:nvSpPr>
        <p:spPr>
          <a:xfrm>
            <a:off x="3047999" y="447554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Изображение отпечатка большого пальца.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 Результат высокочастотной фильтрации 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в</a:t>
            </a:r>
            <a:r>
              <a:rPr lang="ru-RU" dirty="0">
                <a:latin typeface="Newton-Regular"/>
              </a:rPr>
              <a:t>) Результат порогового разделения 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548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DC283-39FF-44E2-A7AD-0D3643D86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Лапласиан в частотной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8B28E7-C533-49E6-9FC7-044033E05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872"/>
            <a:ext cx="10515600" cy="911225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Лапласиан может быть реализован в частотной области при помощи фильтра: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994F24-7EB7-4CDA-B7E4-D25C40B0C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829" y="2026484"/>
            <a:ext cx="5896342" cy="61420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DA06C6-74EF-4395-8B0D-A071A22AC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17893"/>
            <a:ext cx="5972961" cy="303681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DBD07F2-8718-478E-A40F-6141249994AA}"/>
              </a:ext>
            </a:extLst>
          </p:cNvPr>
          <p:cNvSpPr/>
          <p:nvPr/>
        </p:nvSpPr>
        <p:spPr>
          <a:xfrm>
            <a:off x="6502400" y="4931378"/>
            <a:ext cx="46291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а</a:t>
            </a:r>
            <a:r>
              <a:rPr lang="ru-RU" dirty="0">
                <a:latin typeface="Newton-Regular"/>
              </a:rPr>
              <a:t>) Исходное размытое изображение. </a:t>
            </a:r>
          </a:p>
          <a:p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б</a:t>
            </a:r>
            <a:r>
              <a:rPr lang="ru-RU" dirty="0">
                <a:latin typeface="Newton-Regular"/>
              </a:rPr>
              <a:t>) Улучшение изображения использованием лапласиана в частотной области.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7948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C6F06-D1E7-4796-911E-212FC11B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Практикум. Задача 1. Расчет коэффициента передачи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F154B43-7316-4D12-9036-A53D5390B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Рассчитайте значение передаточной функции</a:t>
                </a:r>
                <a:r>
                  <a:rPr lang="ru-RU" b="1" dirty="0"/>
                  <a:t> </a:t>
                </a:r>
                <a:r>
                  <a:rPr lang="ru-RU" b="1" i="1" dirty="0"/>
                  <a:t>H</a:t>
                </a:r>
                <a:r>
                  <a:rPr lang="ru-RU" b="1" dirty="0"/>
                  <a:t>(</a:t>
                </a:r>
                <a:r>
                  <a:rPr lang="ru-RU" b="1" i="1" dirty="0" err="1"/>
                  <a:t>u</a:t>
                </a:r>
                <a:r>
                  <a:rPr lang="ru-RU" b="1" dirty="0" err="1"/>
                  <a:t>,</a:t>
                </a:r>
                <a:r>
                  <a:rPr lang="ru-RU" b="1" i="1" dirty="0" err="1"/>
                  <a:t>v</a:t>
                </a:r>
                <a:r>
                  <a:rPr lang="ru-RU" b="1" dirty="0"/>
                  <a:t>)</a:t>
                </a:r>
                <a:r>
                  <a:rPr lang="ru-RU" dirty="0"/>
                  <a:t> для заданной точки частотной области для различных фильтров. </a:t>
                </a:r>
              </a:p>
              <a:p>
                <a:pPr marL="0" indent="0">
                  <a:buNone/>
                </a:pPr>
                <a:r>
                  <a:rPr lang="ru-RU" dirty="0"/>
                  <a:t>Координаты точки: </a:t>
                </a:r>
                <a:r>
                  <a:rPr lang="ru-RU" b="1" i="1" dirty="0"/>
                  <a:t>u</a:t>
                </a:r>
                <a:r>
                  <a:rPr lang="ru-RU" b="1" dirty="0"/>
                  <a:t>=</a:t>
                </a:r>
                <a:r>
                  <a:rPr lang="en-US" b="1" dirty="0"/>
                  <a:t>50</a:t>
                </a:r>
                <a:r>
                  <a:rPr lang="ru-RU" b="1" dirty="0"/>
                  <a:t>, </a:t>
                </a:r>
                <a:r>
                  <a:rPr lang="ru-RU" b="1" i="1" dirty="0"/>
                  <a:t>v</a:t>
                </a:r>
                <a:r>
                  <a:rPr lang="ru-RU" b="1" dirty="0"/>
                  <a:t>=</a:t>
                </a:r>
                <a:r>
                  <a:rPr lang="en-US" b="1" dirty="0"/>
                  <a:t>50</a:t>
                </a:r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dirty="0"/>
                  <a:t>Центр частотной плоскости находится в точке </a:t>
                </a:r>
                <a:r>
                  <a:rPr lang="ru-RU" b="1" dirty="0"/>
                  <a:t>(</a:t>
                </a:r>
                <a:r>
                  <a:rPr lang="ru-RU" b="1" i="1" dirty="0"/>
                  <a:t>M</a:t>
                </a:r>
                <a:r>
                  <a:rPr lang="ru-RU" b="1" dirty="0"/>
                  <a:t>/2,</a:t>
                </a:r>
                <a:r>
                  <a:rPr lang="ru-RU" b="1" i="1" dirty="0"/>
                  <a:t>N</a:t>
                </a:r>
                <a:r>
                  <a:rPr lang="ru-RU" b="1" dirty="0"/>
                  <a:t>/2)=(</a:t>
                </a:r>
                <a:r>
                  <a:rPr lang="en-US" b="1" dirty="0"/>
                  <a:t>64</a:t>
                </a:r>
                <a:r>
                  <a:rPr lang="ru-RU" b="1" dirty="0"/>
                  <a:t>,</a:t>
                </a:r>
                <a:r>
                  <a:rPr lang="en-US" b="1" dirty="0"/>
                  <a:t>64</a:t>
                </a:r>
                <a:r>
                  <a:rPr lang="ru-RU" b="1" dirty="0"/>
                  <a:t>).</a:t>
                </a:r>
              </a:p>
              <a:p>
                <a:pPr marL="0" indent="0">
                  <a:buNone/>
                </a:pPr>
                <a:r>
                  <a:rPr lang="ru-RU" dirty="0"/>
                  <a:t> Частота среза </a:t>
                </a:r>
                <a:r>
                  <a:rPr lang="ru-RU" b="1" i="1" dirty="0"/>
                  <a:t>D</a:t>
                </a:r>
                <a:r>
                  <a:rPr lang="ru-RU" b="1" dirty="0"/>
                  <a:t>0​=</a:t>
                </a:r>
                <a:r>
                  <a:rPr lang="en-US" b="1" dirty="0"/>
                  <a:t>15</a:t>
                </a:r>
                <a:r>
                  <a:rPr lang="ru-RU" b="1" dirty="0"/>
                  <a:t>.</a:t>
                </a:r>
              </a:p>
              <a:p>
                <a:r>
                  <a:rPr lang="ru-RU" b="1" dirty="0"/>
                  <a:t>Для Идеального ФНЧ:</a:t>
                </a:r>
                <a:endParaRPr lang="ru-RU" dirty="0"/>
              </a:p>
              <a:p>
                <a:pPr lvl="1"/>
                <a:r>
                  <a:rPr lang="ru-RU" dirty="0"/>
                  <a:t>Рассчитайте расстояние </a:t>
                </a:r>
                <a:r>
                  <a:rPr lang="ru-RU" i="1" dirty="0"/>
                  <a:t>D</a:t>
                </a:r>
                <a:r>
                  <a:rPr lang="ru-RU" dirty="0"/>
                  <a:t>(</a:t>
                </a:r>
                <a:r>
                  <a:rPr lang="en-US" dirty="0"/>
                  <a:t>u</a:t>
                </a:r>
                <a:r>
                  <a:rPr lang="ru-RU" dirty="0"/>
                  <a:t>,</a:t>
                </a:r>
                <a:r>
                  <a:rPr lang="en-US" dirty="0"/>
                  <a:t>v</a:t>
                </a:r>
                <a:r>
                  <a:rPr lang="ru-RU" dirty="0"/>
                  <a:t>) от точки до центра.</a:t>
                </a:r>
              </a:p>
              <a:p>
                <a:pPr lvl="1"/>
                <a:r>
                  <a:rPr lang="ru-RU" dirty="0"/>
                  <a:t>Определите, пропустит ли фильтр эту частоту (</a:t>
                </a:r>
                <a:r>
                  <a:rPr lang="ru-RU" i="1" dirty="0"/>
                  <a:t>H</a:t>
                </a:r>
                <a:r>
                  <a:rPr lang="ru-RU" dirty="0"/>
                  <a:t>=1) или подавит ее (</a:t>
                </a:r>
                <a:r>
                  <a:rPr lang="ru-RU" i="1" dirty="0"/>
                  <a:t>H</a:t>
                </a:r>
                <a:r>
                  <a:rPr lang="ru-RU" dirty="0"/>
                  <a:t>=0).</a:t>
                </a:r>
              </a:p>
              <a:p>
                <a:r>
                  <a:rPr lang="ru-RU" b="1" dirty="0"/>
                  <a:t>Для ФНЧ </a:t>
                </a:r>
                <a:r>
                  <a:rPr lang="ru-RU" b="1" dirty="0" err="1"/>
                  <a:t>Баттерворта</a:t>
                </a:r>
                <a:r>
                  <a:rPr lang="ru-RU" b="1" dirty="0"/>
                  <a:t> 2-го порядка (</a:t>
                </a:r>
                <a:r>
                  <a:rPr lang="ru-RU" b="1" i="1" dirty="0"/>
                  <a:t>n</a:t>
                </a:r>
                <a:r>
                  <a:rPr lang="ru-RU" b="1" dirty="0"/>
                  <a:t>=2):</a:t>
                </a:r>
                <a:endParaRPr lang="ru-RU" dirty="0"/>
              </a:p>
              <a:p>
                <a:pPr lvl="1"/>
                <a:r>
                  <a:rPr lang="ru-RU" dirty="0"/>
                  <a:t>По формуле </a:t>
                </a:r>
                <a14:m>
                  <m:oMath xmlns:m="http://schemas.openxmlformats.org/officeDocument/2006/math">
                    <m:r>
                      <a:rPr lang="ru-RU" i="1"/>
                      <m:t>𝐻</m:t>
                    </m:r>
                    <m:r>
                      <a:rPr lang="ru-RU" i="1"/>
                      <m:t>(</m:t>
                    </m:r>
                    <m:r>
                      <a:rPr lang="ru-RU" i="1"/>
                      <m:t>𝑢</m:t>
                    </m:r>
                    <m:r>
                      <a:rPr lang="ru-RU" i="1"/>
                      <m:t>,</m:t>
                    </m:r>
                    <m:r>
                      <a:rPr lang="ru-RU" i="1"/>
                      <m:t>𝑣</m:t>
                    </m:r>
                    <m:r>
                      <a:rPr lang="ru-RU" i="1"/>
                      <m:t>)=</m:t>
                    </m:r>
                    <m:f>
                      <m:fPr>
                        <m:ctrlPr>
                          <a:rPr lang="ru-RU" i="1"/>
                        </m:ctrlPr>
                      </m:fPr>
                      <m:num>
                        <m:r>
                          <a:rPr lang="ru-RU" i="1"/>
                          <m:t>1</m:t>
                        </m:r>
                      </m:num>
                      <m:den>
                        <m:r>
                          <a:rPr lang="ru-RU" i="1"/>
                          <m:t>1+(</m:t>
                        </m:r>
                        <m:r>
                          <a:rPr lang="ru-RU" i="1"/>
                          <m:t>𝐷</m:t>
                        </m:r>
                        <m:r>
                          <a:rPr lang="ru-RU" i="1"/>
                          <m:t>(</m:t>
                        </m:r>
                        <m:r>
                          <a:rPr lang="ru-RU" i="1"/>
                          <m:t>𝑢</m:t>
                        </m:r>
                        <m:r>
                          <a:rPr lang="ru-RU" i="1"/>
                          <m:t>,</m:t>
                        </m:r>
                        <m:r>
                          <a:rPr lang="ru-RU" i="1"/>
                          <m:t>𝑣</m:t>
                        </m:r>
                        <m:r>
                          <a:rPr lang="ru-RU" i="1"/>
                          <m:t>)</m:t>
                        </m:r>
                        <m:r>
                          <a:rPr lang="ru-RU"/>
                          <m:t>/</m:t>
                        </m:r>
                        <m:sSub>
                          <m:sSubPr>
                            <m:ctrlPr>
                              <a:rPr lang="ru-RU" i="1"/>
                            </m:ctrlPr>
                          </m:sSubPr>
                          <m:e>
                            <m:r>
                              <a:rPr lang="ru-RU" i="1"/>
                              <m:t>𝐷</m:t>
                            </m:r>
                          </m:e>
                          <m:sub>
                            <m:r>
                              <a:rPr lang="ru-RU" i="1"/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ru-RU" i="1"/>
                            </m:ctrlPr>
                          </m:sSupPr>
                          <m:e>
                            <m:r>
                              <a:rPr lang="ru-RU" i="1"/>
                              <m:t>)</m:t>
                            </m:r>
                          </m:e>
                          <m:sup>
                            <m:r>
                              <a:rPr lang="ru-RU" i="1"/>
                              <m:t>2</m:t>
                            </m:r>
                            <m:r>
                              <a:rPr lang="ru-RU" i="1"/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dirty="0"/>
                  <a:t>​ рассчитайте точное значение коэффициента передачи.</a:t>
                </a:r>
              </a:p>
              <a:p>
                <a:r>
                  <a:rPr lang="ru-RU" b="1" dirty="0"/>
                  <a:t>Для Гауссова ФНЧ:</a:t>
                </a:r>
                <a:endParaRPr lang="ru-RU" dirty="0"/>
              </a:p>
              <a:p>
                <a:pPr lvl="1"/>
                <a:r>
                  <a:rPr lang="ru-RU" dirty="0"/>
                  <a:t>По формуле ​</a:t>
                </a:r>
                <a14:m>
                  <m:oMath xmlns:m="http://schemas.openxmlformats.org/officeDocument/2006/math">
                    <m:r>
                      <a:rPr lang="ru-RU" i="1"/>
                      <m:t>𝐻</m:t>
                    </m:r>
                    <m:r>
                      <a:rPr lang="ru-RU" i="1"/>
                      <m:t>(</m:t>
                    </m:r>
                    <m:r>
                      <a:rPr lang="ru-RU" i="1"/>
                      <m:t>𝑢</m:t>
                    </m:r>
                    <m:r>
                      <a:rPr lang="ru-RU" i="1"/>
                      <m:t>,</m:t>
                    </m:r>
                    <m:r>
                      <a:rPr lang="ru-RU" i="1"/>
                      <m:t>𝑣</m:t>
                    </m:r>
                    <m:r>
                      <a:rPr lang="ru-RU" i="1"/>
                      <m:t>)=</m:t>
                    </m:r>
                    <m:sSup>
                      <m:sSupPr>
                        <m:ctrlPr>
                          <a:rPr lang="ru-RU" i="1"/>
                        </m:ctrlPr>
                      </m:sSupPr>
                      <m:e>
                        <m:r>
                          <a:rPr lang="ru-RU" i="1"/>
                          <m:t>𝑒</m:t>
                        </m:r>
                      </m:e>
                      <m:sup>
                        <m:r>
                          <a:rPr lang="ru-RU" i="1"/>
                          <m:t>−</m:t>
                        </m:r>
                        <m:f>
                          <m:fPr>
                            <m:ctrlPr>
                              <a:rPr lang="ru-RU" i="1"/>
                            </m:ctrlPr>
                          </m:fPr>
                          <m:num>
                            <m:sSup>
                              <m:sSupPr>
                                <m:ctrlPr>
                                  <a:rPr lang="ru-RU" i="1"/>
                                </m:ctrlPr>
                              </m:sSupPr>
                              <m:e>
                                <m:r>
                                  <a:rPr lang="ru-RU" i="1"/>
                                  <m:t>𝐷</m:t>
                                </m:r>
                              </m:e>
                              <m:sup>
                                <m:r>
                                  <a:rPr lang="ru-RU" i="1"/>
                                  <m:t>2</m:t>
                                </m:r>
                              </m:sup>
                            </m:sSup>
                            <m:r>
                              <a:rPr lang="ru-RU" i="1"/>
                              <m:t>(</m:t>
                            </m:r>
                            <m:r>
                              <a:rPr lang="ru-RU" i="1"/>
                              <m:t>𝑢</m:t>
                            </m:r>
                            <m:r>
                              <a:rPr lang="ru-RU" i="1"/>
                              <m:t>,</m:t>
                            </m:r>
                            <m:r>
                              <a:rPr lang="ru-RU" i="1"/>
                              <m:t>𝑣</m:t>
                            </m:r>
                            <m:r>
                              <a:rPr lang="ru-RU" i="1"/>
                              <m:t>)</m:t>
                            </m:r>
                          </m:num>
                          <m:den>
                            <m:r>
                              <a:rPr lang="ru-RU" i="1"/>
                              <m:t>2</m:t>
                            </m:r>
                            <m:sSubSup>
                              <m:sSubSupPr>
                                <m:ctrlPr>
                                  <a:rPr lang="ru-RU" i="1"/>
                                </m:ctrlPr>
                              </m:sSubSupPr>
                              <m:e>
                                <m:r>
                                  <a:rPr lang="ru-RU" i="1"/>
                                  <m:t>𝐷</m:t>
                                </m:r>
                              </m:e>
                              <m:sub>
                                <m:r>
                                  <a:rPr lang="ru-RU" i="1"/>
                                  <m:t>0</m:t>
                                </m:r>
                              </m:sub>
                              <m:sup>
                                <m:r>
                                  <a:rPr lang="ru-RU" i="1"/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</m:oMath>
                </a14:m>
                <a:r>
                  <a:rPr lang="ru-RU" dirty="0"/>
                  <a:t> рассчитайте точное значение коэффициента передачи.</a:t>
                </a:r>
              </a:p>
              <a:p>
                <a:pPr marL="0" indent="0">
                  <a:buNone/>
                </a:pPr>
                <a:endParaRPr lang="ru-RU" b="1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F154B43-7316-4D12-9036-A53D5390B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54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684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FDFE4-AEFB-48E6-81D7-B696556C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Практикум. Задача </a:t>
            </a:r>
            <a:r>
              <a:rPr lang="en-US" b="1" dirty="0"/>
              <a:t>2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668DFF-0B82-4811-8BD1-BC5945012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каком расстоянии </a:t>
            </a:r>
            <a:r>
              <a:rPr lang="ru-RU" i="1" dirty="0"/>
              <a:t>D</a:t>
            </a:r>
            <a:r>
              <a:rPr lang="ru-RU" dirty="0"/>
              <a:t>(</a:t>
            </a:r>
            <a:r>
              <a:rPr lang="ru-RU" i="1" dirty="0" err="1"/>
              <a:t>u</a:t>
            </a:r>
            <a:r>
              <a:rPr lang="ru-RU" dirty="0" err="1"/>
              <a:t>,</a:t>
            </a:r>
            <a:r>
              <a:rPr lang="ru-RU" i="1" dirty="0" err="1"/>
              <a:t>v</a:t>
            </a:r>
            <a:r>
              <a:rPr lang="ru-RU" dirty="0"/>
              <a:t>) от центра передаточная функция ФНЧ </a:t>
            </a:r>
            <a:r>
              <a:rPr lang="ru-RU" dirty="0" err="1"/>
              <a:t>Баттерворта</a:t>
            </a:r>
            <a:r>
              <a:rPr lang="ru-RU" dirty="0"/>
              <a:t> </a:t>
            </a:r>
            <a:r>
              <a:rPr lang="en-US" dirty="0"/>
              <a:t>2</a:t>
            </a:r>
            <a:r>
              <a:rPr lang="ru-RU" dirty="0"/>
              <a:t>-го порядка ослабляет амплитуду частотной компоненты ровно в два раза (то есть </a:t>
            </a:r>
            <a:r>
              <a:rPr lang="ru-RU" i="1" dirty="0"/>
              <a:t>H</a:t>
            </a:r>
            <a:r>
              <a:rPr lang="ru-RU" dirty="0"/>
              <a:t>(</a:t>
            </a:r>
            <a:r>
              <a:rPr lang="ru-RU" i="1" dirty="0" err="1"/>
              <a:t>u</a:t>
            </a:r>
            <a:r>
              <a:rPr lang="ru-RU" dirty="0" err="1"/>
              <a:t>,</a:t>
            </a:r>
            <a:r>
              <a:rPr lang="ru-RU" i="1" dirty="0" err="1"/>
              <a:t>v</a:t>
            </a:r>
            <a:r>
              <a:rPr lang="ru-RU" dirty="0"/>
              <a:t>)=0.</a:t>
            </a:r>
            <a:r>
              <a:rPr lang="en-US" dirty="0"/>
              <a:t>2</a:t>
            </a:r>
            <a:r>
              <a:rPr lang="ru-RU" dirty="0"/>
              <a:t>)? Сравните это значение с частотой среза </a:t>
            </a:r>
            <a:r>
              <a:rPr lang="ru-RU" i="1" dirty="0"/>
              <a:t>D</a:t>
            </a:r>
            <a:r>
              <a:rPr lang="ru-RU" dirty="0"/>
              <a:t>0​.</a:t>
            </a:r>
          </a:p>
        </p:txBody>
      </p:sp>
    </p:spTree>
    <p:extLst>
      <p:ext uri="{BB962C8B-B14F-4D97-AF65-F5344CB8AC3E}">
        <p14:creationId xmlns:p14="http://schemas.microsoft.com/office/powerpoint/2010/main" val="131548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76F5F-D23B-4F4D-B87B-0916F69F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Практикум. Задача 3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77B0F21-EE63-48F8-8945-12A3050086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ru-RU" dirty="0"/>
                  <a:t>Необходимо сконструировать Гауссов ФНЧ так, чтобы на расстоянии </a:t>
                </a:r>
                <a:r>
                  <a:rPr lang="ru-RU" i="1" dirty="0"/>
                  <a:t>D</a:t>
                </a:r>
                <a:r>
                  <a:rPr lang="ru-RU" dirty="0"/>
                  <a:t>=40 от центра коэффициент передачи падал до значения 0.1 (</a:t>
                </a:r>
                <a:r>
                  <a:rPr lang="ru-RU" i="1" dirty="0"/>
                  <a:t>H</a:t>
                </a:r>
                <a:r>
                  <a:rPr lang="ru-RU" dirty="0"/>
                  <a:t>=0.1). Какую частоту среза </a:t>
                </a:r>
                <a:r>
                  <a:rPr lang="ru-RU" i="1" dirty="0"/>
                  <a:t>D</a:t>
                </a:r>
                <a:r>
                  <a:rPr lang="ru-RU" dirty="0"/>
                  <a:t>0​ необходимо для этого задать?</a:t>
                </a:r>
              </a:p>
              <a:p>
                <a:r>
                  <a:rPr lang="ru-RU" dirty="0"/>
                  <a:t>Оцените параметр σ (среднеквадратичное отклонение) для соответствующего этому частотному фильтру Гауссова ядра размытия в пространственной области. Связь между </a:t>
                </a:r>
                <a:r>
                  <a:rPr lang="ru-RU" i="1" dirty="0"/>
                  <a:t>D</a:t>
                </a:r>
                <a:r>
                  <a:rPr lang="ru-RU" dirty="0"/>
                  <a:t>0​ (радиусом среза в частотной области) и σ (в пространственной области) задается формулой: </a:t>
                </a:r>
                <a14:m>
                  <m:oMath xmlns:m="http://schemas.openxmlformats.org/officeDocument/2006/math">
                    <m:r>
                      <a:rPr lang="ru-RU" i="1" smtClean="0"/>
                      <m:t>𝜎</m:t>
                    </m:r>
                    <m:r>
                      <a:rPr lang="ru-RU" i="1"/>
                      <m:t>=</m:t>
                    </m:r>
                    <m:f>
                      <m:fPr>
                        <m:ctrlPr>
                          <a:rPr lang="ru-RU" i="1"/>
                        </m:ctrlPr>
                      </m:fPr>
                      <m:num>
                        <m:r>
                          <a:rPr lang="ru-RU" i="1"/>
                          <m:t>1</m:t>
                        </m:r>
                      </m:num>
                      <m:den>
                        <m:r>
                          <a:rPr lang="ru-RU" i="1"/>
                          <m:t>2</m:t>
                        </m:r>
                        <m:r>
                          <a:rPr lang="ru-RU" i="1"/>
                          <m:t>𝜋</m:t>
                        </m:r>
                        <m:sSub>
                          <m:sSubPr>
                            <m:ctrlPr>
                              <a:rPr lang="ru-RU" i="1"/>
                            </m:ctrlPr>
                          </m:sSubPr>
                          <m:e>
                            <m:r>
                              <a:rPr lang="ru-RU" i="1"/>
                              <m:t>𝐷</m:t>
                            </m:r>
                          </m:e>
                          <m:sub>
                            <m:r>
                              <a:rPr lang="ru-RU" i="1"/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 для согласованной пары преобразований Фурье.</a:t>
                </a:r>
              </a:p>
              <a:p>
                <a:r>
                  <a:rPr lang="ru-RU" b="1" dirty="0"/>
                  <a:t>Данные:</a:t>
                </a:r>
                <a:r>
                  <a:rPr lang="ru-RU" dirty="0"/>
                  <a:t> Размер изображения: </a:t>
                </a:r>
                <a:r>
                  <a:rPr lang="ru-RU" b="1" dirty="0"/>
                  <a:t>M = 375 пикселей (высота), N = 500 пикселей (ширина)</a:t>
                </a:r>
                <a:r>
                  <a:rPr lang="ru-RU" dirty="0"/>
                  <a:t>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77B0F21-EE63-48F8-8945-12A3050086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101" r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718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F7194-D909-49B0-BCAF-51EAAFED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Практикум. Задача 3</a:t>
            </a:r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6E4850F-5BE8-41DE-A3FA-6E8B14D2A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9054" y="1690688"/>
            <a:ext cx="3382670" cy="255251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33479B-56D2-40A3-9137-E610466D8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616" y="1690688"/>
            <a:ext cx="3248026" cy="245091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EC95AC-2012-4F8F-9812-CD2DB5D17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617" y="4243207"/>
            <a:ext cx="3248025" cy="2447925"/>
          </a:xfrm>
          <a:prstGeom prst="rect">
            <a:avLst/>
          </a:prstGeom>
        </p:spPr>
      </p:pic>
      <p:pic>
        <p:nvPicPr>
          <p:cNvPr id="7" name="Объект 4">
            <a:extLst>
              <a:ext uri="{FF2B5EF4-FFF2-40B4-BE49-F238E27FC236}">
                <a16:creationId xmlns:a16="http://schemas.microsoft.com/office/drawing/2014/main" id="{E922484D-76B2-4409-B468-0B629C22F4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376" y="4243207"/>
            <a:ext cx="32480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5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4FBF1-6976-4F90-8B38-5D321ADC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FB3025-DF9F-4231-AAC4-D5287DC28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Частотная область предоставляет мощный инструмент для анализа и обработки изображений.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ДПФ переводит изображение в форму, где можно оперировать с его частотными компонентами.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Фаза критически важна для формирования структуры изображения.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Существуют три основных типа ФНЧ: Идеальный, </a:t>
            </a:r>
            <a:r>
              <a:rPr lang="ru-RU" dirty="0" err="1"/>
              <a:t>Баттерворта</a:t>
            </a:r>
            <a:r>
              <a:rPr lang="ru-RU" dirty="0"/>
              <a:t>, Гаусса, — каждый со своими преимуществами и недостатками.</a:t>
            </a:r>
          </a:p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dirty="0"/>
              <a:t>Выбор фильтра и его параметров (D₀, n) зависит от конкретной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709053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644B6-D1A6-423E-BD48-62900A86A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Вопросы для самоконтроля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A292B5-C34F-4CB8-85F1-EF29C806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Объясните, что представляют собой низкие и высокие частоты на изображении.</a:t>
            </a:r>
          </a:p>
          <a:p>
            <a:r>
              <a:rPr lang="ru-RU" dirty="0"/>
              <a:t>Почему перед вычислением ДПФ изображение умножают на (-1)^{</a:t>
            </a:r>
            <a:r>
              <a:rPr lang="ru-RU" dirty="0" err="1"/>
              <a:t>x+y</a:t>
            </a:r>
            <a:r>
              <a:rPr lang="ru-RU" dirty="0"/>
              <a:t>}?</a:t>
            </a:r>
          </a:p>
          <a:p>
            <a:r>
              <a:rPr lang="ru-RU" dirty="0"/>
              <a:t>Какой фильтр вы выберете для максимально "мягкого" размытия и почему?</a:t>
            </a:r>
          </a:p>
          <a:p>
            <a:r>
              <a:rPr lang="ru-RU" dirty="0"/>
              <a:t>Что произойдет, если применить идеальный ФНЧ с очень маленькой частотой среза D₀?</a:t>
            </a:r>
          </a:p>
          <a:p>
            <a:r>
              <a:rPr lang="ru-RU" dirty="0"/>
              <a:t>Опишите шаги алгоритма частотной фильтрации.</a:t>
            </a:r>
          </a:p>
        </p:txBody>
      </p:sp>
    </p:spTree>
    <p:extLst>
      <p:ext uri="{BB962C8B-B14F-4D97-AF65-F5344CB8AC3E}">
        <p14:creationId xmlns:p14="http://schemas.microsoft.com/office/powerpoint/2010/main" val="24735542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2377</Words>
  <Application>Microsoft Office PowerPoint</Application>
  <PresentationFormat>Широкоэкранный</PresentationFormat>
  <Paragraphs>272</Paragraphs>
  <Slides>32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Newton-Italic</vt:lpstr>
      <vt:lpstr>Newton-Regular</vt:lpstr>
      <vt:lpstr>quote-cjk-patch</vt:lpstr>
      <vt:lpstr>Тема Office</vt:lpstr>
      <vt:lpstr>Фильтрация в частотной области</vt:lpstr>
      <vt:lpstr>План лекции</vt:lpstr>
      <vt:lpstr>Пространственная vs. Частотная область</vt:lpstr>
      <vt:lpstr>Двумерное дискретное преобразование Фурье</vt:lpstr>
      <vt:lpstr>Свойства двумерного дискретного преобразования Фурье</vt:lpstr>
      <vt:lpstr>Свойства симметрии</vt:lpstr>
      <vt:lpstr>Презентация PowerPoint</vt:lpstr>
      <vt:lpstr>Одномерная иллюстрация свойств</vt:lpstr>
      <vt:lpstr>Фурье-спектр и фаза</vt:lpstr>
      <vt:lpstr>Фурье-спектр и фаза</vt:lpstr>
      <vt:lpstr>Важность фазы для восстановления изображения</vt:lpstr>
      <vt:lpstr>Последовательность шагов частотной фильтрации</vt:lpstr>
      <vt:lpstr>Последовательность шагов частотной фильтрации</vt:lpstr>
      <vt:lpstr>Идеальные фильтры низких частот</vt:lpstr>
      <vt:lpstr>Пример идеального ФНЧ </vt:lpstr>
      <vt:lpstr>Фильтры низких частот Баттерворта</vt:lpstr>
      <vt:lpstr>Пример ФНЧ Баттерворта</vt:lpstr>
      <vt:lpstr>Гауссовы фильтры низких частот</vt:lpstr>
      <vt:lpstr>Пример ФНЧ Гаусса</vt:lpstr>
      <vt:lpstr>Сравнительная таблица ФНЧ</vt:lpstr>
      <vt:lpstr>Дополнительные примеры низкочастотной фильтрации</vt:lpstr>
      <vt:lpstr>Дополнительные примеры низкочастотной фильтрации</vt:lpstr>
      <vt:lpstr>Повышения резкости изображений частотными фильтрами</vt:lpstr>
      <vt:lpstr>Пример ФВЧ</vt:lpstr>
      <vt:lpstr>Дополнительные примеры высокочастотной фильтрации</vt:lpstr>
      <vt:lpstr>Лапласиан в частотной области</vt:lpstr>
      <vt:lpstr>Практикум. Задача 1. Расчет коэффициента передачи</vt:lpstr>
      <vt:lpstr>Практикум. Задача 2</vt:lpstr>
      <vt:lpstr>Практикум. Задача 3</vt:lpstr>
      <vt:lpstr>Практикум. Задача 3</vt:lpstr>
      <vt:lpstr>Вывод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Фильтрация в частотной области</dc:title>
  <dc:creator>Andrey</dc:creator>
  <cp:lastModifiedBy>Наталья Никитина</cp:lastModifiedBy>
  <cp:revision>7</cp:revision>
  <dcterms:created xsi:type="dcterms:W3CDTF">2023-02-21T21:10:17Z</dcterms:created>
  <dcterms:modified xsi:type="dcterms:W3CDTF">2025-09-17T08:45:57Z</dcterms:modified>
</cp:coreProperties>
</file>